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39" r:id="rId2"/>
    <p:sldId id="348" r:id="rId3"/>
    <p:sldId id="340" r:id="rId4"/>
    <p:sldId id="341" r:id="rId5"/>
    <p:sldId id="342" r:id="rId6"/>
    <p:sldId id="345" r:id="rId7"/>
    <p:sldId id="344" r:id="rId8"/>
    <p:sldId id="347" r:id="rId9"/>
    <p:sldId id="343" r:id="rId10"/>
    <p:sldId id="346" r:id="rId11"/>
    <p:sldId id="338" r:id="rId12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 mediu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9" autoAdjust="0"/>
    <p:restoredTop sz="94665" autoAdjust="0"/>
  </p:normalViewPr>
  <p:slideViewPr>
    <p:cSldViewPr>
      <p:cViewPr varScale="1">
        <p:scale>
          <a:sx n="99" d="100"/>
          <a:sy n="99" d="100"/>
        </p:scale>
        <p:origin x="174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18.11.2024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18.11.2024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18.11.2024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18.11.2024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18.11.2024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18.11.2024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18.11.2024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18.11.2024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18.11.2024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tăText 2">
            <a:extLst>
              <a:ext uri="{FF2B5EF4-FFF2-40B4-BE49-F238E27FC236}">
                <a16:creationId xmlns:a16="http://schemas.microsoft.com/office/drawing/2014/main" id="{390CD3EE-345F-44AF-BF92-35FDDA318D44}"/>
              </a:ext>
            </a:extLst>
          </p:cNvPr>
          <p:cNvSpPr txBox="1"/>
          <p:nvPr/>
        </p:nvSpPr>
        <p:spPr>
          <a:xfrm>
            <a:off x="335343" y="685830"/>
            <a:ext cx="11704192" cy="589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Ipoteze de lucru 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pPr marL="285750" indent="-285750">
              <a:buFontTx/>
              <a:buChar char="-"/>
            </a:pPr>
            <a:r>
              <a:rPr lang="ro-RO" b="1" dirty="0"/>
              <a:t>Circuitul logic are un număr mare de ieșiri;</a:t>
            </a:r>
          </a:p>
          <a:p>
            <a:pPr marL="285750" indent="-285750">
              <a:buFontTx/>
              <a:buChar char="-"/>
            </a:pPr>
            <a:r>
              <a:rPr lang="ro-RO" b="1" dirty="0"/>
              <a:t>Fiecare ieșire depinde de cel puțin 4 variabile de intrare;</a:t>
            </a:r>
          </a:p>
          <a:p>
            <a:pPr marL="285750" indent="-285750">
              <a:buFontTx/>
              <a:buChar char="-"/>
            </a:pPr>
            <a:r>
              <a:rPr lang="ro-RO" b="1" dirty="0"/>
              <a:t>Toate ieșirile depind de aceleași variabile de intrare;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r>
              <a:rPr lang="ro-RO" b="1" dirty="0">
                <a:solidFill>
                  <a:srgbClr val="0000FF"/>
                </a:solidFill>
              </a:rPr>
              <a:t>Mod de lucru (considerăm că trebuie implementat un decodificator BCD/7segmente, cu ieșiri active pe zero logic) </a:t>
            </a:r>
          </a:p>
          <a:p>
            <a:endParaRPr lang="ro-RO" b="1" dirty="0">
              <a:solidFill>
                <a:srgbClr val="0000FF"/>
              </a:solidFill>
            </a:endParaRP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ro-RO" b="1" dirty="0"/>
              <a:t>circuitul are 7 ieșiri (notate </a:t>
            </a:r>
            <a:r>
              <a:rPr lang="ro-RO" b="1" i="1" dirty="0"/>
              <a:t>a, b, ... g</a:t>
            </a:r>
            <a:r>
              <a:rPr lang="ro-RO" b="1" dirty="0"/>
              <a:t>) ce depind de aceleași 4 variabile de intrare (notate DCBA); 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ro-RO" b="1" dirty="0"/>
              <a:t>pentru fiecare ieșire folosim câte un MUX 4:1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ro-RO" b="1" dirty="0"/>
              <a:t>comanda intrărilor de selecție ale circuitelor MUX 4:1 se face cu două variabile de intrare (de exemplu D și C);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ro-RO" b="1" dirty="0"/>
              <a:t>celelalte două variabile de intrare (B și A) devin variabile reziduale și vor trebui conectate la intrările de date ale circuitelor multiplexoare;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ro-RO" b="1" dirty="0"/>
              <a:t>pe fiecare intrare de date a multiplexoarelor ne putem aștepta să avem nevoie de orice combinație posibilă între variabilele reziduale B și A;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ro-RO" b="1" dirty="0"/>
              <a:t>pentru eficiența implementării, cele 4 combinații ale variabilelor B și A vor fi implementate cu un DCD cu două intrări de selecție; </a:t>
            </a:r>
          </a:p>
          <a:p>
            <a:pPr marL="285750" indent="-285750">
              <a:spcBef>
                <a:spcPts val="600"/>
              </a:spcBef>
              <a:buFontTx/>
              <a:buChar char="-"/>
            </a:pPr>
            <a:r>
              <a:rPr lang="ro-RO" b="1" dirty="0"/>
              <a:t>în acest mod, cele 4 combinații dintre variabilele B și A vor fi calculate o singură dată și vor fi folosite ori de câte ori este nevoie, pe intrările de date ale celor 7 multiplexoare; </a:t>
            </a: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A67C8CD5-C17D-4627-9BC4-7B0D289F85CF}"/>
              </a:ext>
            </a:extLst>
          </p:cNvPr>
          <p:cNvSpPr txBox="1"/>
          <p:nvPr/>
        </p:nvSpPr>
        <p:spPr>
          <a:xfrm>
            <a:off x="152465" y="45757"/>
            <a:ext cx="11795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i="1" dirty="0">
                <a:solidFill>
                  <a:srgbClr val="FF0000"/>
                </a:solidFill>
              </a:rPr>
              <a:t>Implementarea circuitelor logice cu multe ieșiri folosind DCD și MUX (cazul unui decodificator BDC/7 segmente) </a:t>
            </a:r>
          </a:p>
        </p:txBody>
      </p:sp>
    </p:spTree>
    <p:extLst>
      <p:ext uri="{BB962C8B-B14F-4D97-AF65-F5344CB8AC3E}">
        <p14:creationId xmlns:p14="http://schemas.microsoft.com/office/powerpoint/2010/main" val="595207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tăText 2">
            <a:extLst>
              <a:ext uri="{FF2B5EF4-FFF2-40B4-BE49-F238E27FC236}">
                <a16:creationId xmlns:a16="http://schemas.microsoft.com/office/drawing/2014/main" id="{390CD3EE-345F-44AF-BF92-35FDDA318D44}"/>
              </a:ext>
            </a:extLst>
          </p:cNvPr>
          <p:cNvSpPr txBox="1"/>
          <p:nvPr/>
        </p:nvSpPr>
        <p:spPr>
          <a:xfrm>
            <a:off x="335343" y="868708"/>
            <a:ext cx="47548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Proiectarea tabelului de adevăr </a:t>
            </a:r>
          </a:p>
          <a:p>
            <a:r>
              <a:rPr lang="ro-RO" b="1" dirty="0">
                <a:solidFill>
                  <a:srgbClr val="0000FF"/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ro-RO" b="1" dirty="0"/>
              <a:t>considerăm cazul unui afișaj cu 7 segmente cu anod comun;</a:t>
            </a:r>
          </a:p>
          <a:p>
            <a:pPr marL="285750" indent="-285750">
              <a:buFontTx/>
              <a:buChar char="-"/>
            </a:pPr>
            <a:endParaRPr lang="ro-RO" b="1" dirty="0"/>
          </a:p>
          <a:p>
            <a:pPr marL="285750" indent="-285750">
              <a:buFontTx/>
              <a:buChar char="-"/>
            </a:pPr>
            <a:r>
              <a:rPr lang="ro-RO" b="1" dirty="0"/>
              <a:t>pentru afișajele cu anod comun, ieșirile decodificatorului trebuie să fie active pe zero logic:</a:t>
            </a:r>
          </a:p>
          <a:p>
            <a:pPr marL="1200150" lvl="2" indent="-285750">
              <a:buFontTx/>
              <a:buChar char="-"/>
            </a:pPr>
            <a:r>
              <a:rPr lang="ro-RO" b="1" dirty="0"/>
              <a:t>0 = segment aprins;</a:t>
            </a:r>
          </a:p>
          <a:p>
            <a:pPr marL="1200150" lvl="2" indent="-285750">
              <a:buFontTx/>
              <a:buChar char="-"/>
            </a:pPr>
            <a:r>
              <a:rPr lang="ro-RO" b="1" dirty="0"/>
              <a:t>1 = segment stins;</a:t>
            </a:r>
          </a:p>
          <a:p>
            <a:endParaRPr lang="ro-RO" b="1" dirty="0"/>
          </a:p>
          <a:p>
            <a:pPr marL="285750" indent="-285750">
              <a:buFontTx/>
              <a:buChar char="-"/>
            </a:pPr>
            <a:r>
              <a:rPr lang="ro-RO" b="1" dirty="0"/>
              <a:t>ne propunem ca acest  decodificator să afișeze toate cifrele hexazecimale așa după cum se vede în figura de mai jos;</a:t>
            </a:r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FCFD2D18-4139-4EA7-BEB5-D87B09590F4A}"/>
              </a:ext>
            </a:extLst>
          </p:cNvPr>
          <p:cNvSpPr txBox="1"/>
          <p:nvPr/>
        </p:nvSpPr>
        <p:spPr>
          <a:xfrm>
            <a:off x="152465" y="45757"/>
            <a:ext cx="11795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i="1" dirty="0">
                <a:solidFill>
                  <a:srgbClr val="FF0000"/>
                </a:solidFill>
              </a:rPr>
              <a:t>Implementarea circuitelor logice cu multe ieșiri folosind DCD și MUX (cazul unui decodificator BDC/7 segmente) </a:t>
            </a: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6AFA1C4C-3D3B-4AE5-956F-8C0BFCC2F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6219" y="685830"/>
            <a:ext cx="3188155" cy="6034974"/>
          </a:xfrm>
          <a:prstGeom prst="rect">
            <a:avLst/>
          </a:prstGeom>
        </p:spPr>
      </p:pic>
      <p:pic>
        <p:nvPicPr>
          <p:cNvPr id="2" name="Imagine 1">
            <a:extLst>
              <a:ext uri="{FF2B5EF4-FFF2-40B4-BE49-F238E27FC236}">
                <a16:creationId xmlns:a16="http://schemas.microsoft.com/office/drawing/2014/main" id="{D0CB47F9-FE85-46AE-92EC-E6F13839C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122" y="777269"/>
            <a:ext cx="1543050" cy="1800225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53340E2F-3B72-44EB-AFA9-CBA702B3E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60" y="4983463"/>
            <a:ext cx="6400800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31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tăText 2">
            <a:extLst>
              <a:ext uri="{FF2B5EF4-FFF2-40B4-BE49-F238E27FC236}">
                <a16:creationId xmlns:a16="http://schemas.microsoft.com/office/drawing/2014/main" id="{390CD3EE-345F-44AF-BF92-35FDDA318D44}"/>
              </a:ext>
            </a:extLst>
          </p:cNvPr>
          <p:cNvSpPr txBox="1"/>
          <p:nvPr/>
        </p:nvSpPr>
        <p:spPr>
          <a:xfrm>
            <a:off x="335343" y="868708"/>
            <a:ext cx="475482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0000FF"/>
                </a:solidFill>
              </a:rPr>
              <a:t>Alocarea variabilelor de intrare</a:t>
            </a:r>
          </a:p>
          <a:p>
            <a:r>
              <a:rPr lang="ro-RO" b="1" dirty="0">
                <a:solidFill>
                  <a:srgbClr val="0000FF"/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ro-RO" b="1" dirty="0"/>
              <a:t>variabilele de intrare D și C sunt folosite pentru comanda intrărilor de selecție ale singurului decodificator binar din schemă;</a:t>
            </a:r>
          </a:p>
          <a:p>
            <a:pPr marL="285750" indent="-285750">
              <a:buFontTx/>
              <a:buChar char="-"/>
            </a:pPr>
            <a:endParaRPr lang="ro-RO" b="1" dirty="0"/>
          </a:p>
          <a:p>
            <a:pPr marL="285750" indent="-285750">
              <a:buFontTx/>
              <a:buChar char="-"/>
            </a:pPr>
            <a:r>
              <a:rPr lang="ro-RO" b="1" dirty="0"/>
              <a:t>variabilele de intrare B și A sunt folosite pentru comanda intrărilor de selecție ale fiecărui circuit MUX4:1</a:t>
            </a:r>
          </a:p>
          <a:p>
            <a:pPr marL="285750" indent="-285750">
              <a:buFontTx/>
              <a:buChar char="-"/>
            </a:pPr>
            <a:endParaRPr lang="ro-RO" b="1" dirty="0"/>
          </a:p>
          <a:p>
            <a:pPr marL="285750" indent="-285750">
              <a:buFontTx/>
              <a:buChar char="-"/>
            </a:pPr>
            <a:r>
              <a:rPr lang="ro-RO" b="1" dirty="0"/>
              <a:t>pentru fiecare ieșire se construiește o digramă VK în scopul determinării subfuncțiilor de 2 variabile ce trebuie conectate la intrările de date ale multiplexorului;</a:t>
            </a:r>
          </a:p>
          <a:p>
            <a:pPr marL="285750" indent="-285750">
              <a:buFontTx/>
              <a:buChar char="-"/>
            </a:pPr>
            <a:endParaRPr lang="ro-RO" b="1" dirty="0"/>
          </a:p>
        </p:txBody>
      </p:sp>
      <p:sp>
        <p:nvSpPr>
          <p:cNvPr id="5" name="CasetăText 4">
            <a:extLst>
              <a:ext uri="{FF2B5EF4-FFF2-40B4-BE49-F238E27FC236}">
                <a16:creationId xmlns:a16="http://schemas.microsoft.com/office/drawing/2014/main" id="{FCFD2D18-4139-4EA7-BEB5-D87B09590F4A}"/>
              </a:ext>
            </a:extLst>
          </p:cNvPr>
          <p:cNvSpPr txBox="1"/>
          <p:nvPr/>
        </p:nvSpPr>
        <p:spPr>
          <a:xfrm>
            <a:off x="152465" y="45757"/>
            <a:ext cx="11795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i="1" dirty="0">
                <a:solidFill>
                  <a:srgbClr val="FF0000"/>
                </a:solidFill>
              </a:rPr>
              <a:t>Implementarea circuitelor logice cu multe ieșiri folosind DCD și MUX (cazul unui decodificator BDC/7 segmente)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2E9CFC99-CE19-4BC9-BDE8-01A3004E7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049" y="1234464"/>
            <a:ext cx="6667500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733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2DCF88C4-3226-4FFE-8684-C63C83DAABEF}"/>
              </a:ext>
            </a:extLst>
          </p:cNvPr>
          <p:cNvSpPr txBox="1"/>
          <p:nvPr/>
        </p:nvSpPr>
        <p:spPr>
          <a:xfrm>
            <a:off x="152465" y="45757"/>
            <a:ext cx="11795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i="1" dirty="0">
                <a:solidFill>
                  <a:srgbClr val="FF0000"/>
                </a:solidFill>
              </a:rPr>
              <a:t>Implementarea circuitelor logice cu multe ieșiri folosind DCD și MUX (cazul unui decodificator BDC/7 segmente) </a:t>
            </a: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390CD3EE-345F-44AF-BF92-35FDDA318D44}"/>
              </a:ext>
            </a:extLst>
          </p:cNvPr>
          <p:cNvSpPr txBox="1"/>
          <p:nvPr/>
        </p:nvSpPr>
        <p:spPr>
          <a:xfrm>
            <a:off x="335343" y="594391"/>
            <a:ext cx="11704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- </a:t>
            </a:r>
            <a:r>
              <a:rPr lang="ro-RO" b="1" dirty="0">
                <a:solidFill>
                  <a:srgbClr val="0000FF"/>
                </a:solidFill>
              </a:rPr>
              <a:t>Ecuații pentru ieșirea </a:t>
            </a:r>
            <a:r>
              <a:rPr lang="ro-RO" b="1" i="1" dirty="0">
                <a:solidFill>
                  <a:srgbClr val="0000FF"/>
                </a:solidFill>
              </a:rPr>
              <a:t>a</a:t>
            </a:r>
            <a:r>
              <a:rPr lang="ro-RO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95DB4C30-96B0-4305-AFF5-E77772909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64" y="685830"/>
            <a:ext cx="4722517" cy="2357918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F5827615-8FCA-4843-AF25-915363708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221" y="960147"/>
            <a:ext cx="2828925" cy="5753100"/>
          </a:xfrm>
          <a:prstGeom prst="rect">
            <a:avLst/>
          </a:prstGeom>
        </p:spPr>
      </p:pic>
      <p:pic>
        <p:nvPicPr>
          <p:cNvPr id="14" name="Imagine 13">
            <a:extLst>
              <a:ext uri="{FF2B5EF4-FFF2-40B4-BE49-F238E27FC236}">
                <a16:creationId xmlns:a16="http://schemas.microsoft.com/office/drawing/2014/main" id="{BB161C3D-A4DB-47BE-A6F2-12A033317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64" y="3154683"/>
            <a:ext cx="5120584" cy="363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886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setăText 9">
            <a:extLst>
              <a:ext uri="{FF2B5EF4-FFF2-40B4-BE49-F238E27FC236}">
                <a16:creationId xmlns:a16="http://schemas.microsoft.com/office/drawing/2014/main" id="{8794A951-A87A-480B-BB23-E482AFE5B947}"/>
              </a:ext>
            </a:extLst>
          </p:cNvPr>
          <p:cNvSpPr txBox="1"/>
          <p:nvPr/>
        </p:nvSpPr>
        <p:spPr>
          <a:xfrm>
            <a:off x="335343" y="594391"/>
            <a:ext cx="11704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- </a:t>
            </a:r>
            <a:r>
              <a:rPr lang="ro-RO" b="1" dirty="0">
                <a:solidFill>
                  <a:srgbClr val="0000FF"/>
                </a:solidFill>
              </a:rPr>
              <a:t>Ecuații pentru ieșirea </a:t>
            </a:r>
            <a:r>
              <a:rPr lang="ro-RO" b="1" i="1" dirty="0">
                <a:solidFill>
                  <a:srgbClr val="0000FF"/>
                </a:solidFill>
              </a:rPr>
              <a:t>b</a:t>
            </a:r>
            <a:r>
              <a:rPr lang="ro-RO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11" name="Imagine 10">
            <a:extLst>
              <a:ext uri="{FF2B5EF4-FFF2-40B4-BE49-F238E27FC236}">
                <a16:creationId xmlns:a16="http://schemas.microsoft.com/office/drawing/2014/main" id="{58373677-FD73-4E0D-9F7D-6729F81B5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1073625"/>
            <a:ext cx="2771775" cy="5753100"/>
          </a:xfrm>
          <a:prstGeom prst="rect">
            <a:avLst/>
          </a:prstGeom>
        </p:spPr>
      </p:pic>
      <p:pic>
        <p:nvPicPr>
          <p:cNvPr id="12" name="Imagine 11">
            <a:extLst>
              <a:ext uri="{FF2B5EF4-FFF2-40B4-BE49-F238E27FC236}">
                <a16:creationId xmlns:a16="http://schemas.microsoft.com/office/drawing/2014/main" id="{45D08B60-107F-48C1-BAF7-D9780858A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147" y="3154683"/>
            <a:ext cx="6004571" cy="3459155"/>
          </a:xfrm>
          <a:prstGeom prst="rect">
            <a:avLst/>
          </a:prstGeom>
        </p:spPr>
      </p:pic>
      <p:sp>
        <p:nvSpPr>
          <p:cNvPr id="14" name="CasetăText 13">
            <a:extLst>
              <a:ext uri="{FF2B5EF4-FFF2-40B4-BE49-F238E27FC236}">
                <a16:creationId xmlns:a16="http://schemas.microsoft.com/office/drawing/2014/main" id="{7B725065-C3A3-4843-BE13-ADAB6D3206DE}"/>
              </a:ext>
            </a:extLst>
          </p:cNvPr>
          <p:cNvSpPr txBox="1"/>
          <p:nvPr/>
        </p:nvSpPr>
        <p:spPr>
          <a:xfrm>
            <a:off x="152465" y="45757"/>
            <a:ext cx="11795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i="1" dirty="0">
                <a:solidFill>
                  <a:srgbClr val="FF0000"/>
                </a:solidFill>
              </a:rPr>
              <a:t>Implementarea circuitelor logice cu multe ieșiri folosind DCD și MUX (cazul unui decodificator BDC/7 segmente) </a:t>
            </a:r>
          </a:p>
        </p:txBody>
      </p:sp>
      <p:pic>
        <p:nvPicPr>
          <p:cNvPr id="15" name="Imagine 14">
            <a:extLst>
              <a:ext uri="{FF2B5EF4-FFF2-40B4-BE49-F238E27FC236}">
                <a16:creationId xmlns:a16="http://schemas.microsoft.com/office/drawing/2014/main" id="{2A4FD234-3860-4927-BC42-0F3BC7C72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7147" y="777269"/>
            <a:ext cx="6600825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004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29C7058C-78AA-4D43-BEF8-84F8F84B2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25" y="868708"/>
            <a:ext cx="4613926" cy="2516687"/>
          </a:xfrm>
          <a:prstGeom prst="rect">
            <a:avLst/>
          </a:prstGeom>
        </p:spPr>
      </p:pic>
      <p:sp>
        <p:nvSpPr>
          <p:cNvPr id="8" name="CasetăText 7">
            <a:extLst>
              <a:ext uri="{FF2B5EF4-FFF2-40B4-BE49-F238E27FC236}">
                <a16:creationId xmlns:a16="http://schemas.microsoft.com/office/drawing/2014/main" id="{7D0C788B-FD58-422D-A9F0-2510174A5CF5}"/>
              </a:ext>
            </a:extLst>
          </p:cNvPr>
          <p:cNvSpPr txBox="1"/>
          <p:nvPr/>
        </p:nvSpPr>
        <p:spPr>
          <a:xfrm>
            <a:off x="335343" y="594391"/>
            <a:ext cx="11704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- </a:t>
            </a:r>
            <a:r>
              <a:rPr lang="ro-RO" b="1" dirty="0">
                <a:solidFill>
                  <a:srgbClr val="0000FF"/>
                </a:solidFill>
              </a:rPr>
              <a:t>Ecuații pentru ieșirea </a:t>
            </a:r>
            <a:r>
              <a:rPr lang="ro-RO" b="1" i="1" dirty="0">
                <a:solidFill>
                  <a:srgbClr val="0000FF"/>
                </a:solidFill>
              </a:rPr>
              <a:t>c</a:t>
            </a:r>
            <a:r>
              <a:rPr lang="ro-RO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DDF6A387-22A7-4547-A815-EFC4C5E4F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1051586"/>
            <a:ext cx="2771775" cy="5676900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A03E4FC9-3658-4AF3-9947-900366EEB8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25" y="3520439"/>
            <a:ext cx="4707268" cy="3254783"/>
          </a:xfrm>
          <a:prstGeom prst="rect">
            <a:avLst/>
          </a:prstGeom>
        </p:spPr>
      </p:pic>
      <p:sp>
        <p:nvSpPr>
          <p:cNvPr id="10" name="CasetăText 9">
            <a:extLst>
              <a:ext uri="{FF2B5EF4-FFF2-40B4-BE49-F238E27FC236}">
                <a16:creationId xmlns:a16="http://schemas.microsoft.com/office/drawing/2014/main" id="{A32C9EDE-8B3C-4D63-8404-3716673F7350}"/>
              </a:ext>
            </a:extLst>
          </p:cNvPr>
          <p:cNvSpPr txBox="1"/>
          <p:nvPr/>
        </p:nvSpPr>
        <p:spPr>
          <a:xfrm>
            <a:off x="152465" y="45757"/>
            <a:ext cx="11795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i="1" dirty="0">
                <a:solidFill>
                  <a:srgbClr val="FF0000"/>
                </a:solidFill>
              </a:rPr>
              <a:t>Implementarea circuitelor logice cu multe ieșiri folosind DCD și MUX (cazul unui decodificator BDC/7 segmente) </a:t>
            </a:r>
          </a:p>
        </p:txBody>
      </p:sp>
    </p:spTree>
    <p:extLst>
      <p:ext uri="{BB962C8B-B14F-4D97-AF65-F5344CB8AC3E}">
        <p14:creationId xmlns:p14="http://schemas.microsoft.com/office/powerpoint/2010/main" val="1118050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DB9C2DCA-F1D9-4314-887A-CFE75F358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64" y="868708"/>
            <a:ext cx="4623456" cy="2342013"/>
          </a:xfrm>
          <a:prstGeom prst="rect">
            <a:avLst/>
          </a:prstGeom>
        </p:spPr>
      </p:pic>
      <p:sp>
        <p:nvSpPr>
          <p:cNvPr id="8" name="CasetăText 7">
            <a:extLst>
              <a:ext uri="{FF2B5EF4-FFF2-40B4-BE49-F238E27FC236}">
                <a16:creationId xmlns:a16="http://schemas.microsoft.com/office/drawing/2014/main" id="{0DAA2F4E-5302-4D8E-9A06-3394EF3CCFA3}"/>
              </a:ext>
            </a:extLst>
          </p:cNvPr>
          <p:cNvSpPr txBox="1"/>
          <p:nvPr/>
        </p:nvSpPr>
        <p:spPr>
          <a:xfrm>
            <a:off x="335343" y="594391"/>
            <a:ext cx="11704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- </a:t>
            </a:r>
            <a:r>
              <a:rPr lang="ro-RO" b="1" dirty="0">
                <a:solidFill>
                  <a:srgbClr val="0000FF"/>
                </a:solidFill>
              </a:rPr>
              <a:t>Ecuații pentru ieșirea </a:t>
            </a:r>
            <a:r>
              <a:rPr lang="ro-RO" b="1" i="1" dirty="0">
                <a:solidFill>
                  <a:srgbClr val="0000FF"/>
                </a:solidFill>
              </a:rPr>
              <a:t>d</a:t>
            </a:r>
            <a:r>
              <a:rPr lang="ro-RO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9EB26295-DB18-4055-879C-4C357E783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960147"/>
            <a:ext cx="2781300" cy="5715000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28520886-FDD3-49AA-947E-2FC5F67F4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64" y="3337561"/>
            <a:ext cx="5080611" cy="3320003"/>
          </a:xfrm>
          <a:prstGeom prst="rect">
            <a:avLst/>
          </a:prstGeom>
        </p:spPr>
      </p:pic>
      <p:sp>
        <p:nvSpPr>
          <p:cNvPr id="11" name="CasetăText 10">
            <a:extLst>
              <a:ext uri="{FF2B5EF4-FFF2-40B4-BE49-F238E27FC236}">
                <a16:creationId xmlns:a16="http://schemas.microsoft.com/office/drawing/2014/main" id="{5B5B0E30-0033-40C8-A6BD-DF196AE01CC6}"/>
              </a:ext>
            </a:extLst>
          </p:cNvPr>
          <p:cNvSpPr txBox="1"/>
          <p:nvPr/>
        </p:nvSpPr>
        <p:spPr>
          <a:xfrm>
            <a:off x="152465" y="45757"/>
            <a:ext cx="11795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i="1" dirty="0">
                <a:solidFill>
                  <a:srgbClr val="FF0000"/>
                </a:solidFill>
              </a:rPr>
              <a:t>Implementarea circuitelor logice cu multe ieșiri folosind DCD și MUX (cazul unui decodificator BDC/7 segmente) </a:t>
            </a:r>
          </a:p>
        </p:txBody>
      </p:sp>
    </p:spTree>
    <p:extLst>
      <p:ext uri="{BB962C8B-B14F-4D97-AF65-F5344CB8AC3E}">
        <p14:creationId xmlns:p14="http://schemas.microsoft.com/office/powerpoint/2010/main" val="3043232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1414B7C8-F14C-41AA-B060-967B4CE9B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708" y="685830"/>
            <a:ext cx="4937706" cy="2522601"/>
          </a:xfrm>
          <a:prstGeom prst="rect">
            <a:avLst/>
          </a:prstGeom>
        </p:spPr>
      </p:pic>
      <p:sp>
        <p:nvSpPr>
          <p:cNvPr id="8" name="CasetăText 7">
            <a:extLst>
              <a:ext uri="{FF2B5EF4-FFF2-40B4-BE49-F238E27FC236}">
                <a16:creationId xmlns:a16="http://schemas.microsoft.com/office/drawing/2014/main" id="{219B406A-69C0-48A0-9A88-F88BF87D73C4}"/>
              </a:ext>
            </a:extLst>
          </p:cNvPr>
          <p:cNvSpPr txBox="1"/>
          <p:nvPr/>
        </p:nvSpPr>
        <p:spPr>
          <a:xfrm>
            <a:off x="335343" y="594391"/>
            <a:ext cx="11704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- </a:t>
            </a:r>
            <a:r>
              <a:rPr lang="ro-RO" b="1" dirty="0">
                <a:solidFill>
                  <a:srgbClr val="0000FF"/>
                </a:solidFill>
              </a:rPr>
              <a:t>Ecuații pentru ieșirea </a:t>
            </a:r>
            <a:r>
              <a:rPr lang="ro-RO" b="1" i="1" dirty="0">
                <a:solidFill>
                  <a:srgbClr val="0000FF"/>
                </a:solidFill>
              </a:rPr>
              <a:t>e</a:t>
            </a:r>
            <a:r>
              <a:rPr lang="ro-RO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D499BC80-D3EA-4C6B-BA83-06E07F7AE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051586"/>
            <a:ext cx="2809875" cy="5676900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DDCE2673-BB6C-4CEA-992E-9E14DF128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708" y="3337561"/>
            <a:ext cx="4984409" cy="3361387"/>
          </a:xfrm>
          <a:prstGeom prst="rect">
            <a:avLst/>
          </a:prstGeom>
        </p:spPr>
      </p:pic>
      <p:sp>
        <p:nvSpPr>
          <p:cNvPr id="10" name="CasetăText 9">
            <a:extLst>
              <a:ext uri="{FF2B5EF4-FFF2-40B4-BE49-F238E27FC236}">
                <a16:creationId xmlns:a16="http://schemas.microsoft.com/office/drawing/2014/main" id="{19AD6FA2-AEC5-46C3-89D2-679CCCB8BFCF}"/>
              </a:ext>
            </a:extLst>
          </p:cNvPr>
          <p:cNvSpPr txBox="1"/>
          <p:nvPr/>
        </p:nvSpPr>
        <p:spPr>
          <a:xfrm>
            <a:off x="152465" y="45757"/>
            <a:ext cx="11795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i="1" dirty="0">
                <a:solidFill>
                  <a:srgbClr val="FF0000"/>
                </a:solidFill>
              </a:rPr>
              <a:t>Implementarea circuitelor logice cu multe ieșiri folosind DCD și MUX (cazul unui decodificator BDC/7 segmente) </a:t>
            </a:r>
          </a:p>
        </p:txBody>
      </p:sp>
    </p:spTree>
    <p:extLst>
      <p:ext uri="{BB962C8B-B14F-4D97-AF65-F5344CB8AC3E}">
        <p14:creationId xmlns:p14="http://schemas.microsoft.com/office/powerpoint/2010/main" val="3388472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1AD3F086-292B-470D-9F25-3D64AA2F3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342" y="777269"/>
            <a:ext cx="4597700" cy="2593192"/>
          </a:xfrm>
          <a:prstGeom prst="rect">
            <a:avLst/>
          </a:prstGeom>
        </p:spPr>
      </p:pic>
      <p:sp>
        <p:nvSpPr>
          <p:cNvPr id="8" name="CasetăText 7">
            <a:extLst>
              <a:ext uri="{FF2B5EF4-FFF2-40B4-BE49-F238E27FC236}">
                <a16:creationId xmlns:a16="http://schemas.microsoft.com/office/drawing/2014/main" id="{E94CAEDC-CF3B-4B40-85A2-8A1C7058E6BC}"/>
              </a:ext>
            </a:extLst>
          </p:cNvPr>
          <p:cNvSpPr txBox="1"/>
          <p:nvPr/>
        </p:nvSpPr>
        <p:spPr>
          <a:xfrm>
            <a:off x="335343" y="594391"/>
            <a:ext cx="11704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- </a:t>
            </a:r>
            <a:r>
              <a:rPr lang="ro-RO" b="1" dirty="0">
                <a:solidFill>
                  <a:srgbClr val="0000FF"/>
                </a:solidFill>
              </a:rPr>
              <a:t>Ecuații pentru ieșirea </a:t>
            </a:r>
            <a:r>
              <a:rPr lang="ro-RO" b="1" i="1" dirty="0">
                <a:solidFill>
                  <a:srgbClr val="0000FF"/>
                </a:solidFill>
              </a:rPr>
              <a:t>f</a:t>
            </a:r>
            <a:r>
              <a:rPr lang="ro-RO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9" name="Imagine 8">
            <a:extLst>
              <a:ext uri="{FF2B5EF4-FFF2-40B4-BE49-F238E27FC236}">
                <a16:creationId xmlns:a16="http://schemas.microsoft.com/office/drawing/2014/main" id="{F1C468D7-C206-4A5A-916E-3DFD19E7D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1051586"/>
            <a:ext cx="2781300" cy="5705475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64AEFEDB-535F-4222-A7E1-4FF415A0E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342" y="3429000"/>
            <a:ext cx="5017747" cy="3304170"/>
          </a:xfrm>
          <a:prstGeom prst="rect">
            <a:avLst/>
          </a:prstGeom>
        </p:spPr>
      </p:pic>
      <p:sp>
        <p:nvSpPr>
          <p:cNvPr id="11" name="CasetăText 10">
            <a:extLst>
              <a:ext uri="{FF2B5EF4-FFF2-40B4-BE49-F238E27FC236}">
                <a16:creationId xmlns:a16="http://schemas.microsoft.com/office/drawing/2014/main" id="{4F21DD95-934A-4E56-BF50-FB35A86DE80D}"/>
              </a:ext>
            </a:extLst>
          </p:cNvPr>
          <p:cNvSpPr txBox="1"/>
          <p:nvPr/>
        </p:nvSpPr>
        <p:spPr>
          <a:xfrm>
            <a:off x="152465" y="45757"/>
            <a:ext cx="11795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i="1" dirty="0">
                <a:solidFill>
                  <a:srgbClr val="FF0000"/>
                </a:solidFill>
              </a:rPr>
              <a:t>Implementarea circuitelor logice cu multe ieșiri folosind DCD și MUX (cazul unui decodificator BDC/7 segmente) </a:t>
            </a:r>
          </a:p>
        </p:txBody>
      </p:sp>
    </p:spTree>
    <p:extLst>
      <p:ext uri="{BB962C8B-B14F-4D97-AF65-F5344CB8AC3E}">
        <p14:creationId xmlns:p14="http://schemas.microsoft.com/office/powerpoint/2010/main" val="2004020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EA702115-AC3F-4015-96AD-01E75B3F65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64" y="960147"/>
            <a:ext cx="4754828" cy="2464181"/>
          </a:xfrm>
          <a:prstGeom prst="rect">
            <a:avLst/>
          </a:prstGeom>
        </p:spPr>
      </p:pic>
      <p:sp>
        <p:nvSpPr>
          <p:cNvPr id="8" name="CasetăText 7">
            <a:extLst>
              <a:ext uri="{FF2B5EF4-FFF2-40B4-BE49-F238E27FC236}">
                <a16:creationId xmlns:a16="http://schemas.microsoft.com/office/drawing/2014/main" id="{439138F9-5895-4EA1-8E44-032E739B1372}"/>
              </a:ext>
            </a:extLst>
          </p:cNvPr>
          <p:cNvSpPr txBox="1"/>
          <p:nvPr/>
        </p:nvSpPr>
        <p:spPr>
          <a:xfrm>
            <a:off x="335343" y="594391"/>
            <a:ext cx="11704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- </a:t>
            </a:r>
            <a:r>
              <a:rPr lang="ro-RO" b="1" dirty="0">
                <a:solidFill>
                  <a:srgbClr val="0000FF"/>
                </a:solidFill>
              </a:rPr>
              <a:t>Ecuații pentru ieșirea </a:t>
            </a:r>
            <a:r>
              <a:rPr lang="ro-RO" b="1" i="1" dirty="0">
                <a:solidFill>
                  <a:srgbClr val="0000FF"/>
                </a:solidFill>
              </a:rPr>
              <a:t>g</a:t>
            </a:r>
            <a:r>
              <a:rPr lang="ro-RO" b="1" dirty="0">
                <a:solidFill>
                  <a:srgbClr val="0000FF"/>
                </a:solidFill>
              </a:rPr>
              <a:t> </a:t>
            </a: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480D9BF8-B20F-457B-A29A-A53345920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045038"/>
            <a:ext cx="2895600" cy="5781675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E6B9B10E-ACFD-432C-ACDE-6C4878915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1464" y="3611878"/>
            <a:ext cx="4945358" cy="3098877"/>
          </a:xfrm>
          <a:prstGeom prst="rect">
            <a:avLst/>
          </a:prstGeom>
        </p:spPr>
      </p:pic>
      <p:sp>
        <p:nvSpPr>
          <p:cNvPr id="10" name="CasetăText 9">
            <a:extLst>
              <a:ext uri="{FF2B5EF4-FFF2-40B4-BE49-F238E27FC236}">
                <a16:creationId xmlns:a16="http://schemas.microsoft.com/office/drawing/2014/main" id="{1669099D-5361-41DB-ADDA-D8BE9CD7955F}"/>
              </a:ext>
            </a:extLst>
          </p:cNvPr>
          <p:cNvSpPr txBox="1"/>
          <p:nvPr/>
        </p:nvSpPr>
        <p:spPr>
          <a:xfrm>
            <a:off x="152465" y="45757"/>
            <a:ext cx="11795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i="1" dirty="0">
                <a:solidFill>
                  <a:srgbClr val="FF0000"/>
                </a:solidFill>
              </a:rPr>
              <a:t>Implementarea circuitelor logice cu multe ieșiri folosind DCD și MUX (cazul unui decodificator BDC/7 segmente) </a:t>
            </a:r>
          </a:p>
        </p:txBody>
      </p:sp>
    </p:spTree>
    <p:extLst>
      <p:ext uri="{BB962C8B-B14F-4D97-AF65-F5344CB8AC3E}">
        <p14:creationId xmlns:p14="http://schemas.microsoft.com/office/powerpoint/2010/main" val="332301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5C3B85E9-5B29-440D-AC13-92ADB21E1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586" y="45757"/>
            <a:ext cx="8356297" cy="6715455"/>
          </a:xfrm>
          <a:prstGeom prst="rect">
            <a:avLst/>
          </a:prstGeom>
        </p:spPr>
      </p:pic>
      <p:sp>
        <p:nvSpPr>
          <p:cNvPr id="4" name="CasetăText 3">
            <a:extLst>
              <a:ext uri="{FF2B5EF4-FFF2-40B4-BE49-F238E27FC236}">
                <a16:creationId xmlns:a16="http://schemas.microsoft.com/office/drawing/2014/main" id="{20AAFE89-CDB1-48FC-A2DE-6C9E1014474A}"/>
              </a:ext>
            </a:extLst>
          </p:cNvPr>
          <p:cNvSpPr txBox="1"/>
          <p:nvPr/>
        </p:nvSpPr>
        <p:spPr>
          <a:xfrm>
            <a:off x="152465" y="45757"/>
            <a:ext cx="35661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i="1" dirty="0">
                <a:solidFill>
                  <a:srgbClr val="FF0000"/>
                </a:solidFill>
              </a:rPr>
              <a:t>Implementarea circuitelor logice cu multe ieșiri folosind DCD și MUX </a:t>
            </a:r>
          </a:p>
          <a:p>
            <a:r>
              <a:rPr lang="ro-RO" b="1" i="1" dirty="0">
                <a:solidFill>
                  <a:srgbClr val="FF0000"/>
                </a:solidFill>
              </a:rPr>
              <a:t>(cazul unui decodificator </a:t>
            </a:r>
          </a:p>
          <a:p>
            <a:r>
              <a:rPr lang="ro-RO" b="1" i="1" dirty="0">
                <a:solidFill>
                  <a:srgbClr val="FF0000"/>
                </a:solidFill>
              </a:rPr>
              <a:t> BDC/7 segmente) </a:t>
            </a:r>
          </a:p>
          <a:p>
            <a:endParaRPr lang="ro-RO" b="1" i="1" dirty="0">
              <a:solidFill>
                <a:srgbClr val="FF0000"/>
              </a:solidFill>
            </a:endParaRPr>
          </a:p>
          <a:p>
            <a:r>
              <a:rPr lang="en-US" b="1" dirty="0">
                <a:solidFill>
                  <a:srgbClr val="0000FF"/>
                </a:solidFill>
              </a:rPr>
              <a:t>- </a:t>
            </a:r>
            <a:r>
              <a:rPr lang="ro-RO" b="1" dirty="0">
                <a:solidFill>
                  <a:srgbClr val="0000FF"/>
                </a:solidFill>
              </a:rPr>
              <a:t>Schema finală  </a:t>
            </a:r>
          </a:p>
          <a:p>
            <a:endParaRPr lang="ro-RO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498375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8498</TotalTime>
  <Words>597</Words>
  <Application>Microsoft Office PowerPoint</Application>
  <PresentationFormat>Ecran lat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264</cp:revision>
  <dcterms:created xsi:type="dcterms:W3CDTF">2020-09-24T15:20:51Z</dcterms:created>
  <dcterms:modified xsi:type="dcterms:W3CDTF">2024-11-18T14:05:32Z</dcterms:modified>
</cp:coreProperties>
</file>