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80" r:id="rId2"/>
    <p:sldId id="407" r:id="rId3"/>
    <p:sldId id="402" r:id="rId4"/>
    <p:sldId id="408" r:id="rId5"/>
    <p:sldId id="409" r:id="rId6"/>
    <p:sldId id="420" r:id="rId7"/>
    <p:sldId id="410" r:id="rId8"/>
    <p:sldId id="419" r:id="rId9"/>
    <p:sldId id="415" r:id="rId10"/>
    <p:sldId id="416" r:id="rId11"/>
    <p:sldId id="417" r:id="rId12"/>
    <p:sldId id="428" r:id="rId13"/>
    <p:sldId id="429" r:id="rId14"/>
    <p:sldId id="411" r:id="rId15"/>
    <p:sldId id="421" r:id="rId16"/>
    <p:sldId id="422" r:id="rId17"/>
    <p:sldId id="425" r:id="rId18"/>
    <p:sldId id="430" r:id="rId19"/>
    <p:sldId id="426" r:id="rId20"/>
    <p:sldId id="432" r:id="rId21"/>
    <p:sldId id="433" r:id="rId22"/>
    <p:sldId id="424" r:id="rId23"/>
    <p:sldId id="434" r:id="rId24"/>
    <p:sldId id="435" r:id="rId25"/>
    <p:sldId id="413" r:id="rId26"/>
    <p:sldId id="414" r:id="rId27"/>
    <p:sldId id="406" r:id="rId28"/>
    <p:sldId id="346" r:id="rId29"/>
    <p:sldId id="376" r:id="rId30"/>
    <p:sldId id="377" r:id="rId31"/>
    <p:sldId id="378" r:id="rId32"/>
    <p:sldId id="379" r:id="rId33"/>
    <p:sldId id="381" r:id="rId34"/>
    <p:sldId id="403" r:id="rId35"/>
    <p:sldId id="404" r:id="rId36"/>
    <p:sldId id="436" r:id="rId37"/>
    <p:sldId id="405" r:id="rId38"/>
    <p:sldId id="382" r:id="rId39"/>
    <p:sldId id="383" r:id="rId40"/>
    <p:sldId id="384" r:id="rId41"/>
    <p:sldId id="385" r:id="rId42"/>
    <p:sldId id="386" r:id="rId43"/>
    <p:sldId id="390" r:id="rId44"/>
    <p:sldId id="391" r:id="rId45"/>
    <p:sldId id="392" r:id="rId46"/>
    <p:sldId id="393" r:id="rId47"/>
    <p:sldId id="387" r:id="rId48"/>
    <p:sldId id="388" r:id="rId49"/>
    <p:sldId id="389" r:id="rId50"/>
    <p:sldId id="394" r:id="rId51"/>
    <p:sldId id="395" r:id="rId52"/>
    <p:sldId id="396" r:id="rId53"/>
    <p:sldId id="397" r:id="rId54"/>
    <p:sldId id="398" r:id="rId55"/>
    <p:sldId id="399" r:id="rId56"/>
    <p:sldId id="401" r:id="rId57"/>
    <p:sldId id="444" r:id="rId58"/>
    <p:sldId id="445" r:id="rId59"/>
    <p:sldId id="446" r:id="rId60"/>
    <p:sldId id="437" r:id="rId61"/>
    <p:sldId id="439" r:id="rId62"/>
    <p:sldId id="447" r:id="rId63"/>
    <p:sldId id="449" r:id="rId64"/>
    <p:sldId id="450" r:id="rId65"/>
    <p:sldId id="380" r:id="rId66"/>
    <p:sldId id="442" r:id="rId67"/>
    <p:sldId id="440" r:id="rId68"/>
    <p:sldId id="441" r:id="rId69"/>
    <p:sldId id="423" r:id="rId7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17.12.2025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17.12.2025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12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 de studii: 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12         15 Dece</a:t>
            </a:r>
            <a:r>
              <a:rPr lang="en-US" sz="3200" b="1" dirty="0" err="1">
                <a:solidFill>
                  <a:srgbClr val="0000FF"/>
                </a:solidFill>
              </a:rPr>
              <a:t>mbrie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ro-RO" sz="3200" b="1" dirty="0">
                <a:solidFill>
                  <a:srgbClr val="0000FF"/>
                </a:solidFill>
              </a:rPr>
              <a:t>202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320074"/>
            <a:ext cx="1115555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gendă</a:t>
            </a:r>
            <a:endParaRPr lang="ro-RO" sz="3600" b="1" dirty="0">
              <a:solidFill>
                <a:srgbClr val="0000FF"/>
              </a:solidFill>
            </a:endParaRPr>
          </a:p>
          <a:p>
            <a:pPr lvl="2">
              <a:defRPr/>
            </a:pPr>
            <a:endParaRPr lang="ro-RO" sz="2800" b="1" dirty="0"/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Clasificarea limbajelor de programare pentru PLC;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Structura unui program conform standardului IEC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Limbajul SFC</a:t>
            </a:r>
            <a:endParaRPr lang="ro-RO" sz="20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88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/>
              <a:t>Clasificare conform standardului internațional </a:t>
            </a:r>
            <a:r>
              <a:rPr lang="ro-RO" sz="2400" b="1" dirty="0">
                <a:solidFill>
                  <a:srgbClr val="0000FF"/>
                </a:solidFill>
              </a:rPr>
              <a:t>IEC 61131-3</a:t>
            </a:r>
          </a:p>
          <a:p>
            <a:endParaRPr lang="ro-RO" sz="2400" b="1" dirty="0"/>
          </a:p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Limbaje grafice 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LD – </a:t>
            </a:r>
            <a:r>
              <a:rPr lang="ro-RO" sz="2400" b="1" dirty="0" err="1"/>
              <a:t>Ladder</a:t>
            </a:r>
            <a:r>
              <a:rPr lang="ro-RO" sz="2400" b="1" dirty="0"/>
              <a:t> </a:t>
            </a:r>
            <a:r>
              <a:rPr lang="ro-RO" sz="2400" b="1" dirty="0" err="1"/>
              <a:t>Diagram</a:t>
            </a:r>
            <a:endParaRPr lang="ro-RO" sz="24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FBD – </a:t>
            </a:r>
            <a:r>
              <a:rPr lang="ro-RO" sz="2400" b="1" dirty="0" err="1"/>
              <a:t>Function</a:t>
            </a:r>
            <a:r>
              <a:rPr lang="ro-RO" sz="2400" b="1" dirty="0"/>
              <a:t> Block </a:t>
            </a:r>
            <a:r>
              <a:rPr lang="ro-RO" sz="2400" b="1" dirty="0" err="1"/>
              <a:t>Diagram</a:t>
            </a:r>
            <a:endParaRPr lang="ro-RO" sz="24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SFC – </a:t>
            </a:r>
            <a:r>
              <a:rPr lang="ro-RO" sz="2400" b="1" dirty="0" err="1"/>
              <a:t>Sequential</a:t>
            </a:r>
            <a:r>
              <a:rPr lang="ro-RO" sz="2400" b="1" dirty="0"/>
              <a:t> </a:t>
            </a:r>
            <a:r>
              <a:rPr lang="ro-RO" sz="2400" b="1" dirty="0" err="1"/>
              <a:t>Function</a:t>
            </a:r>
            <a:r>
              <a:rPr lang="ro-RO" sz="2400" b="1" dirty="0"/>
              <a:t> </a:t>
            </a:r>
            <a:r>
              <a:rPr lang="ro-RO" sz="2400" b="1" dirty="0" err="1"/>
              <a:t>Chart</a:t>
            </a:r>
            <a:r>
              <a:rPr lang="ro-RO" sz="2400" b="1" dirty="0"/>
              <a:t>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ro-RO" sz="2400" b="1" dirty="0"/>
          </a:p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Limbaje textuale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ST – </a:t>
            </a:r>
            <a:r>
              <a:rPr lang="ro-RO" sz="2400" b="1" dirty="0" err="1"/>
              <a:t>Structured</a:t>
            </a:r>
            <a:r>
              <a:rPr lang="ro-RO" sz="2400" b="1" dirty="0"/>
              <a:t>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IL – </a:t>
            </a:r>
            <a:r>
              <a:rPr lang="ro-RO" sz="2400" b="1" dirty="0" err="1"/>
              <a:t>Instruction</a:t>
            </a:r>
            <a:r>
              <a:rPr lang="ro-RO" sz="2400" b="1" dirty="0"/>
              <a:t> </a:t>
            </a:r>
            <a:r>
              <a:rPr lang="ro-RO" sz="2400" b="1" dirty="0" err="1"/>
              <a:t>List</a:t>
            </a:r>
            <a:r>
              <a:rPr lang="ro-RO" sz="2400" b="1" dirty="0"/>
              <a:t> (depreciat / retras în edițiile noi ale standardului)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ro-RO" sz="1400" dirty="0"/>
          </a:p>
          <a:p>
            <a:endParaRPr lang="ro-RO" dirty="0"/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</p:spTree>
    <p:extLst>
      <p:ext uri="{BB962C8B-B14F-4D97-AF65-F5344CB8AC3E}">
        <p14:creationId xmlns:p14="http://schemas.microsoft.com/office/powerpoint/2010/main" val="292424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Limbajul 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  <a:r>
              <a:rPr lang="ro-RO" sz="2400" b="1" dirty="0" err="1">
                <a:solidFill>
                  <a:srgbClr val="0000FF"/>
                </a:solidFill>
              </a:rPr>
              <a:t>Diagram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Caracteristici principale: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este cel mai răspândit limbaj de programare pentru PLC (standard industrial de facto)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este inspirat din schemele electrice cu relee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utilizează contacte (NO/NC) și bobine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foarte ușor de înțeles pentru electricieni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excelent pentru logică discretă (ON/OFF)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 err="1"/>
              <a:t>debugging</a:t>
            </a:r>
            <a:r>
              <a:rPr lang="ro-RO" sz="2000" dirty="0"/>
              <a:t> intuitiv (stare contacte/bobine)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Dezavantaje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devine greu de citit pentru programe complexe de control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este neprietenos pentru: calcule matematice; algoritmi; structuri de date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cod sursă voluminos</a:t>
            </a: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Utilizare tipică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automatizarea unor puncte individuale de lucru (mașini simple)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automatizări clasice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</p:spTree>
    <p:extLst>
      <p:ext uri="{BB962C8B-B14F-4D97-AF65-F5344CB8AC3E}">
        <p14:creationId xmlns:p14="http://schemas.microsoft.com/office/powerpoint/2010/main" val="406946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Limbajul </a:t>
            </a:r>
            <a:r>
              <a:rPr lang="ro-RO" sz="2400" b="1" i="1" dirty="0" err="1">
                <a:solidFill>
                  <a:srgbClr val="0000FF"/>
                </a:solidFill>
              </a:rPr>
              <a:t>Function</a:t>
            </a:r>
            <a:r>
              <a:rPr lang="ro-RO" sz="2400" b="1" i="1" dirty="0">
                <a:solidFill>
                  <a:srgbClr val="0000FF"/>
                </a:solidFill>
              </a:rPr>
              <a:t> Block </a:t>
            </a:r>
            <a:r>
              <a:rPr lang="ro-RO" sz="2400" b="1" i="1" dirty="0" err="1">
                <a:solidFill>
                  <a:srgbClr val="0000FF"/>
                </a:solidFill>
              </a:rPr>
              <a:t>Diagram</a:t>
            </a:r>
            <a:r>
              <a:rPr lang="ro-RO" sz="2400" b="1" i="1" dirty="0">
                <a:solidFill>
                  <a:srgbClr val="0000FF"/>
                </a:solidFill>
              </a:rPr>
              <a:t> </a:t>
            </a:r>
            <a:r>
              <a:rPr lang="ro-RO" sz="2400" b="1" dirty="0">
                <a:solidFill>
                  <a:srgbClr val="0000FF"/>
                </a:solidFill>
              </a:rPr>
              <a:t>(FBD)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Caracteristici principale: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000" dirty="0"/>
              <a:t>Programare prin blocuri funcționale interconectate</a:t>
            </a:r>
            <a:endParaRPr lang="ro-RO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000" dirty="0"/>
              <a:t>Similar cu schemele de proces</a:t>
            </a:r>
            <a:r>
              <a:rPr lang="ro-RO" sz="2000" dirty="0"/>
              <a:t>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foarte bun pentru: control analogic, PID, procesare de semnale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vizual și intuitiv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reutilizarea ușoară a blocurilor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Dezavantaje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Proiectele mari devin greu de urmărit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Control limitat asupra execuției secvențiale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Mai puțin potrivit pentru logică complexă de decizie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Utilizare tipică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a</a:t>
            </a:r>
            <a:r>
              <a:rPr lang="it-IT" sz="2000" dirty="0"/>
              <a:t>utomatizări de proces</a:t>
            </a:r>
            <a:endParaRPr lang="ro-RO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C</a:t>
            </a:r>
            <a:r>
              <a:rPr lang="it-IT" sz="2000" dirty="0"/>
              <a:t>ontrol</a:t>
            </a:r>
            <a:r>
              <a:rPr lang="ro-RO" sz="2000" dirty="0" err="1"/>
              <a:t>ul</a:t>
            </a:r>
            <a:r>
              <a:rPr lang="ro-RO" sz="2000" dirty="0"/>
              <a:t> unor parametri precum: </a:t>
            </a:r>
            <a:r>
              <a:rPr lang="it-IT" sz="2000" dirty="0"/>
              <a:t>temperatură, presiune, debit</a:t>
            </a:r>
            <a:r>
              <a:rPr lang="ro-RO" sz="2000" dirty="0"/>
              <a:t>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000" dirty="0"/>
              <a:t>Sisteme HVAC</a:t>
            </a:r>
            <a:endParaRPr lang="ro-RO" sz="2000" dirty="0"/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</p:spTree>
    <p:extLst>
      <p:ext uri="{BB962C8B-B14F-4D97-AF65-F5344CB8AC3E}">
        <p14:creationId xmlns:p14="http://schemas.microsoft.com/office/powerpoint/2010/main" val="344402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Limbajul </a:t>
            </a:r>
            <a:r>
              <a:rPr lang="ro-RO" sz="2400" b="1" i="1" dirty="0" err="1">
                <a:solidFill>
                  <a:srgbClr val="0000FF"/>
                </a:solidFill>
              </a:rPr>
              <a:t>Function</a:t>
            </a:r>
            <a:r>
              <a:rPr lang="ro-RO" sz="2400" b="1" i="1" dirty="0">
                <a:solidFill>
                  <a:srgbClr val="0000FF"/>
                </a:solidFill>
              </a:rPr>
              <a:t> Block </a:t>
            </a:r>
            <a:r>
              <a:rPr lang="ro-RO" sz="2400" b="1" i="1" dirty="0" err="1">
                <a:solidFill>
                  <a:srgbClr val="0000FF"/>
                </a:solidFill>
              </a:rPr>
              <a:t>Diagram</a:t>
            </a:r>
            <a:r>
              <a:rPr lang="ro-RO" sz="2400" b="1" i="1" dirty="0">
                <a:solidFill>
                  <a:srgbClr val="0000FF"/>
                </a:solidFill>
              </a:rPr>
              <a:t> </a:t>
            </a:r>
            <a:r>
              <a:rPr lang="ro-RO" sz="2400" b="1" dirty="0">
                <a:solidFill>
                  <a:srgbClr val="0000FF"/>
                </a:solidFill>
              </a:rPr>
              <a:t>(FBD)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24AC0EC2-2C39-472B-B400-55E9C66D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611" y="1508781"/>
            <a:ext cx="67818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0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Limbajul </a:t>
            </a:r>
            <a:r>
              <a:rPr lang="ro-RO" sz="2400" b="1" dirty="0" err="1">
                <a:solidFill>
                  <a:srgbClr val="0000FF"/>
                </a:solidFill>
              </a:rPr>
              <a:t>Sequential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  <a:r>
              <a:rPr lang="ro-RO" sz="2400" b="1" dirty="0" err="1">
                <a:solidFill>
                  <a:srgbClr val="0000FF"/>
                </a:solidFill>
              </a:rPr>
              <a:t>Function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  <a:r>
              <a:rPr lang="ro-RO" sz="2400" b="1" dirty="0" err="1">
                <a:solidFill>
                  <a:srgbClr val="0000FF"/>
                </a:solidFill>
              </a:rPr>
              <a:t>Chart</a:t>
            </a:r>
            <a:r>
              <a:rPr lang="ro-RO" sz="2400" b="1" dirty="0">
                <a:solidFill>
                  <a:srgbClr val="0000FF"/>
                </a:solidFill>
              </a:rPr>
              <a:t> (SFC)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Caracteristici principale: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Permite descrierea programului de control la nivel de graf de tranziție a stărilor (folosește </a:t>
            </a:r>
            <a:r>
              <a:rPr lang="it-IT" sz="2000" dirty="0"/>
              <a:t>pași și tranziții</a:t>
            </a:r>
            <a:r>
              <a:rPr lang="ro-RO" sz="2000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Este foarte potrivit </a:t>
            </a:r>
            <a:r>
              <a:rPr lang="it-IT" sz="2000" dirty="0"/>
              <a:t>pentru procese secvențiale</a:t>
            </a:r>
            <a:r>
              <a:rPr lang="ro-RO" sz="2000" dirty="0"/>
              <a:t> cu puncte clare de pornire și de terminare;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Poate fi folosit pentru implementarea programelor cu mai multe fire de execuție simultană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Claritate foarte bună a fluxului de execuție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Dezavantaje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Nu poate (sau are dificultăți) în implementarea proceselor ce trebuie să fie permanent active (monitorizare de erori în background, comunicație permanentă etc)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Necesită combinare cu LD/FBD/ST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Nu este suficient de sigur (pot apărea unele comportamente ascunse)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Utilizare tipică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Linii de producție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Procese secvențiale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Automatizări </a:t>
            </a:r>
            <a:r>
              <a:rPr lang="ro-RO" sz="2000" dirty="0" err="1"/>
              <a:t>batch</a:t>
            </a:r>
            <a:endParaRPr lang="ro-RO" sz="2000" dirty="0"/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</p:spTree>
    <p:extLst>
      <p:ext uri="{BB962C8B-B14F-4D97-AF65-F5344CB8AC3E}">
        <p14:creationId xmlns:p14="http://schemas.microsoft.com/office/powerpoint/2010/main" val="378794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Limbajul </a:t>
            </a:r>
            <a:r>
              <a:rPr lang="ro-RO" sz="2400" b="1" dirty="0" err="1">
                <a:solidFill>
                  <a:srgbClr val="0000FF"/>
                </a:solidFill>
              </a:rPr>
              <a:t>Sequential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  <a:r>
              <a:rPr lang="ro-RO" sz="2400" b="1" dirty="0" err="1">
                <a:solidFill>
                  <a:srgbClr val="0000FF"/>
                </a:solidFill>
              </a:rPr>
              <a:t>Function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  <a:r>
              <a:rPr lang="ro-RO" sz="2400" b="1" dirty="0" err="1">
                <a:solidFill>
                  <a:srgbClr val="0000FF"/>
                </a:solidFill>
              </a:rPr>
              <a:t>Chart</a:t>
            </a:r>
            <a:r>
              <a:rPr lang="ro-RO" sz="2400" b="1" dirty="0">
                <a:solidFill>
                  <a:srgbClr val="0000FF"/>
                </a:solidFill>
              </a:rPr>
              <a:t> (SFC) – Exemple de program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FE32753-E12A-46EA-B359-05BC75504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783098"/>
            <a:ext cx="4900867" cy="45719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06EC66D1-30A2-455F-9C80-6CCBED120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78" y="1143025"/>
            <a:ext cx="5699759" cy="55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90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Limbajul </a:t>
            </a:r>
            <a:r>
              <a:rPr lang="ro-RO" sz="2400" b="1" dirty="0" err="1">
                <a:solidFill>
                  <a:srgbClr val="0000FF"/>
                </a:solidFill>
              </a:rPr>
              <a:t>Structured</a:t>
            </a:r>
            <a:r>
              <a:rPr lang="ro-RO" sz="2400" b="1" dirty="0">
                <a:solidFill>
                  <a:srgbClr val="0000FF"/>
                </a:solidFill>
              </a:rPr>
              <a:t> Text (ST)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Caracteristici principale: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ST este un limbaj de programare ce se aseamănă foarte mult cu limbajele clasice (Pascal/C)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suportă instrucțiuni precum </a:t>
            </a:r>
            <a:r>
              <a:rPr lang="en-US" sz="2000" dirty="0"/>
              <a:t> IF, CASE, FOR, WHILE</a:t>
            </a:r>
            <a:r>
              <a:rPr lang="ro-RO" sz="2000" dirty="0"/>
              <a:t>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foarte puternic și compact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ideal pentru: calcule matematice, algoritmi, manipulare de date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scalabil pentru proiecte mari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Dezavantaje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Mai greu de înțeles pentru electricieni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 err="1"/>
              <a:t>Debugging</a:t>
            </a:r>
            <a:r>
              <a:rPr lang="ro-RO" sz="2000" dirty="0"/>
              <a:t> mai puțin intuitiv (nu este vizual)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Necesită disciplină de programare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Utilizare tipică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Mașini complexe; Robotică;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Calcul avansat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Sisteme modulare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</p:spTree>
    <p:extLst>
      <p:ext uri="{BB962C8B-B14F-4D97-AF65-F5344CB8AC3E}">
        <p14:creationId xmlns:p14="http://schemas.microsoft.com/office/powerpoint/2010/main" val="398708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243904" y="685830"/>
            <a:ext cx="621785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>
                <a:solidFill>
                  <a:srgbClr val="0000FF"/>
                </a:solidFill>
              </a:rPr>
              <a:t>Limbajul </a:t>
            </a:r>
            <a:r>
              <a:rPr lang="ro-RO" sz="2400" b="1" i="1" dirty="0" err="1">
                <a:solidFill>
                  <a:srgbClr val="0000FF"/>
                </a:solidFill>
              </a:rPr>
              <a:t>Instruction</a:t>
            </a:r>
            <a:r>
              <a:rPr lang="ro-RO" sz="2400" b="1" i="1" dirty="0">
                <a:solidFill>
                  <a:srgbClr val="0000FF"/>
                </a:solidFill>
              </a:rPr>
              <a:t> </a:t>
            </a:r>
            <a:r>
              <a:rPr lang="ro-RO" sz="2400" b="1" i="1" dirty="0" err="1">
                <a:solidFill>
                  <a:srgbClr val="0000FF"/>
                </a:solidFill>
              </a:rPr>
              <a:t>List</a:t>
            </a:r>
            <a:r>
              <a:rPr lang="ro-RO" sz="2400" b="1" i="1" dirty="0">
                <a:solidFill>
                  <a:srgbClr val="0000FF"/>
                </a:solidFill>
              </a:rPr>
              <a:t>  </a:t>
            </a:r>
            <a:r>
              <a:rPr lang="ro-RO" sz="2400" b="1" dirty="0">
                <a:solidFill>
                  <a:srgbClr val="0000FF"/>
                </a:solidFill>
              </a:rPr>
              <a:t>(IL)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Caracteristici principale: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IL este un limbaj de programare similar cu programarea în Assembler 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Este considerat un limbaj depășit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Viteză de execuție mare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Control precis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Dezavantaje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greu de utilizat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Nu este intuitiv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Utilizare tipică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Sisteme de automatizare mai vechi;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/>
              <a:t>În prezent nu mai este folosit (este scos din versiunile noi ale standardului IEC 61131-3)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5515EDD0-D92C-4C97-AB4D-F8CEB1849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34" y="1417342"/>
            <a:ext cx="5009178" cy="289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4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Ce limbaj de programare folosim pentru PLC ?</a:t>
            </a:r>
            <a:endParaRPr lang="ro-RO" sz="2400" b="1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În practică, nu se folosește un singur limbaj: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b="1" dirty="0"/>
              <a:t>SFC → structură și implementarea secvențelor de control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b="1" dirty="0"/>
              <a:t>LD / FBD → I/O și interblocări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b="1" dirty="0"/>
              <a:t>ST → calcule, algoritmi, logică complexă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ro-RO" sz="2000" b="1" dirty="0"/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0C9B8459-69BC-4243-BDF0-4187A9C9286C}"/>
              </a:ext>
            </a:extLst>
          </p:cNvPr>
          <p:cNvSpPr/>
          <p:nvPr/>
        </p:nvSpPr>
        <p:spPr>
          <a:xfrm>
            <a:off x="518221" y="228635"/>
            <a:ext cx="5669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Clasificarea limbajelor de programare folosite în PLC  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D3D70CAA-68BE-4070-951A-B633F6764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160442"/>
              </p:ext>
            </p:extLst>
          </p:nvPr>
        </p:nvGraphicFramePr>
        <p:xfrm>
          <a:off x="1889806" y="3429000"/>
          <a:ext cx="6766486" cy="2194560"/>
        </p:xfrm>
        <a:graphic>
          <a:graphicData uri="http://schemas.openxmlformats.org/drawingml/2006/table">
            <a:tbl>
              <a:tblPr/>
              <a:tblGrid>
                <a:gridCol w="1280146">
                  <a:extLst>
                    <a:ext uri="{9D8B030D-6E8A-4147-A177-3AD203B41FA5}">
                      <a16:colId xmlns:a16="http://schemas.microsoft.com/office/drawing/2014/main" val="3892071599"/>
                    </a:ext>
                  </a:extLst>
                </a:gridCol>
                <a:gridCol w="1371585">
                  <a:extLst>
                    <a:ext uri="{9D8B030D-6E8A-4147-A177-3AD203B41FA5}">
                      <a16:colId xmlns:a16="http://schemas.microsoft.com/office/drawing/2014/main" val="1874303112"/>
                    </a:ext>
                  </a:extLst>
                </a:gridCol>
                <a:gridCol w="1188707">
                  <a:extLst>
                    <a:ext uri="{9D8B030D-6E8A-4147-A177-3AD203B41FA5}">
                      <a16:colId xmlns:a16="http://schemas.microsoft.com/office/drawing/2014/main" val="3734484034"/>
                    </a:ext>
                  </a:extLst>
                </a:gridCol>
                <a:gridCol w="1371585">
                  <a:extLst>
                    <a:ext uri="{9D8B030D-6E8A-4147-A177-3AD203B41FA5}">
                      <a16:colId xmlns:a16="http://schemas.microsoft.com/office/drawing/2014/main" val="4246378290"/>
                    </a:ext>
                  </a:extLst>
                </a:gridCol>
                <a:gridCol w="1554463">
                  <a:extLst>
                    <a:ext uri="{9D8B030D-6E8A-4147-A177-3AD203B41FA5}">
                      <a16:colId xmlns:a16="http://schemas.microsoft.com/office/drawing/2014/main" val="1426574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dirty="0"/>
                        <a:t>Limbaj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Ușurință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Putere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Vizual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Scalabilitate</a:t>
                      </a:r>
                      <a:endParaRPr lang="ro-R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054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/>
                        <a:t>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62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dirty="0"/>
                        <a:t>FBD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35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/>
                        <a:t>SFC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311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dirty="0"/>
                        <a:t>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40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/>
                        <a:t>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488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994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BB211783-AA39-4ED5-86B2-7D5E3492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685830"/>
            <a:ext cx="7139002" cy="593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62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CED2C8C-CDB9-4A88-85EA-413E5C62F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611" y="594391"/>
            <a:ext cx="10109107" cy="615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78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518221" y="685830"/>
            <a:ext cx="621785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Configuration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Nivelul cel mai înalt din ierarhie;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Este folosit pentru descrierea aplicației ca un sistem, nu ca pe un program mare;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Este un nivel static;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Pentru </a:t>
            </a:r>
            <a:r>
              <a:rPr lang="ro-RO" sz="2000" b="1" i="1" dirty="0"/>
              <a:t>Siemens (TIA Portal) </a:t>
            </a:r>
            <a:r>
              <a:rPr lang="ro-RO" sz="2000" b="1" dirty="0"/>
              <a:t>acest nivel este </a:t>
            </a:r>
            <a:r>
              <a:rPr lang="ro-RO" sz="2000" b="1" dirty="0">
                <a:solidFill>
                  <a:srgbClr val="0000FF"/>
                </a:solidFill>
              </a:rPr>
              <a:t>descris indirect </a:t>
            </a:r>
            <a:r>
              <a:rPr lang="ro-RO" sz="2000" b="1" dirty="0"/>
              <a:t>prin: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Hardware </a:t>
            </a:r>
            <a:r>
              <a:rPr lang="ro-RO" sz="2000" dirty="0" err="1"/>
              <a:t>Configuration</a:t>
            </a:r>
            <a:r>
              <a:rPr lang="ro-RO" sz="2000" dirty="0"/>
              <a:t>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OB-uri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 Pentru </a:t>
            </a:r>
            <a:r>
              <a:rPr lang="ro-RO" sz="2000" b="1" i="1" dirty="0" err="1"/>
              <a:t>CodeSys</a:t>
            </a:r>
            <a:r>
              <a:rPr lang="ro-RO" sz="2000" b="1" dirty="0"/>
              <a:t> acest nivel este </a:t>
            </a:r>
            <a:r>
              <a:rPr lang="ro-RO" sz="2000" b="1" dirty="0">
                <a:solidFill>
                  <a:srgbClr val="0000FF"/>
                </a:solidFill>
              </a:rPr>
              <a:t>descris direct </a:t>
            </a:r>
            <a:r>
              <a:rPr lang="ro-RO" sz="2000" b="1" dirty="0"/>
              <a:t>prin: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„</a:t>
            </a:r>
            <a:r>
              <a:rPr lang="ro-RO" sz="2000" dirty="0" err="1"/>
              <a:t>Device</a:t>
            </a:r>
            <a:r>
              <a:rPr lang="ro-RO" sz="2000" dirty="0"/>
              <a:t>” + „</a:t>
            </a:r>
            <a:r>
              <a:rPr lang="ro-RO" sz="2000" dirty="0" err="1"/>
              <a:t>Application</a:t>
            </a:r>
            <a:r>
              <a:rPr lang="ro-RO" sz="2000" dirty="0"/>
              <a:t>”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„Task </a:t>
            </a:r>
            <a:r>
              <a:rPr lang="ro-RO" sz="2000" dirty="0" err="1"/>
              <a:t>Configuration</a:t>
            </a:r>
            <a:r>
              <a:rPr lang="ro-RO" sz="2000" dirty="0"/>
              <a:t>”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„I/O </a:t>
            </a:r>
            <a:r>
              <a:rPr lang="ro-RO" sz="2000" dirty="0" err="1"/>
              <a:t>Mapping</a:t>
            </a:r>
            <a:r>
              <a:rPr lang="ro-RO" sz="2000" dirty="0"/>
              <a:t>”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068DBC79-DA6B-4AE4-BEAC-F4B3D5D96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12" y="1143025"/>
            <a:ext cx="5100617" cy="423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90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518221" y="685830"/>
            <a:ext cx="621785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Resource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Nivelul hardware / </a:t>
            </a:r>
            <a:r>
              <a:rPr lang="ro-RO" sz="2000" b="1" dirty="0" err="1"/>
              <a:t>Runtime</a:t>
            </a:r>
            <a:r>
              <a:rPr lang="ro-RO" sz="2000" b="1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Este o unitate de execuție din PLC (de regulă CPU din PLC sau</a:t>
            </a:r>
            <a:r>
              <a:rPr lang="en-US" sz="2000" b="1" dirty="0"/>
              <a:t> un </a:t>
            </a:r>
            <a:r>
              <a:rPr lang="ro-RO" sz="2000" b="1" dirty="0"/>
              <a:t> </a:t>
            </a:r>
            <a:r>
              <a:rPr lang="en-US" sz="2000" b="1" dirty="0"/>
              <a:t>“r</a:t>
            </a:r>
            <a:r>
              <a:rPr lang="ro-RO" sz="2000" b="1" dirty="0" err="1"/>
              <a:t>untime</a:t>
            </a:r>
            <a:r>
              <a:rPr lang="en-US" sz="2000" b="1" dirty="0"/>
              <a:t> logic” </a:t>
            </a:r>
            <a:r>
              <a:rPr lang="ro-RO" sz="2000" b="1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/>
              <a:t>Găzduiește:</a:t>
            </a:r>
            <a:endParaRPr lang="en-US" sz="2000" b="1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task-uri</a:t>
            </a:r>
            <a:endParaRPr lang="en-US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/>
              <a:t>m</a:t>
            </a:r>
            <a:r>
              <a:rPr lang="ro-RO" sz="2000" dirty="0" err="1"/>
              <a:t>emorie</a:t>
            </a:r>
            <a:endParaRPr lang="en-US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 err="1"/>
              <a:t>scheduler</a:t>
            </a: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068DBC79-DA6B-4AE4-BEAC-F4B3D5D96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12" y="1143025"/>
            <a:ext cx="5100617" cy="423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8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832094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Task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(nivelul de 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scheduling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Rol: </a:t>
            </a:r>
            <a:r>
              <a:rPr lang="ro-RO" sz="2000" dirty="0"/>
              <a:t>un </a:t>
            </a:r>
            <a:r>
              <a:rPr lang="ro-RO" sz="2000" dirty="0">
                <a:solidFill>
                  <a:srgbClr val="0000FF"/>
                </a:solidFill>
              </a:rPr>
              <a:t>task</a:t>
            </a:r>
            <a:r>
              <a:rPr lang="ro-RO" sz="2000" dirty="0"/>
              <a:t> este </a:t>
            </a:r>
            <a:r>
              <a:rPr lang="ro-RO" sz="2000" dirty="0">
                <a:solidFill>
                  <a:srgbClr val="0000FF"/>
                </a:solidFill>
              </a:rPr>
              <a:t>unitatea de bază care rulează codul programului</a:t>
            </a:r>
            <a:r>
              <a:rPr lang="ro-RO" sz="2000" dirty="0"/>
              <a:t>, specificând când și cum sunt executate POU-urile (Programe, Blocuri de Funcții, Funcții).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Componente ale Task-ului: </a:t>
            </a:r>
            <a:r>
              <a:rPr lang="ro-RO" sz="2000" dirty="0"/>
              <a:t>Un task include POU-uri, care pot fi programe standard sau definite de utilizator, funcții sau blocuri de funcții, organizate într-o ierarhie de apelare.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Tipuri de task-uri: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Ciclic (</a:t>
            </a:r>
            <a:r>
              <a:rPr lang="ro-RO" sz="2000" dirty="0" err="1">
                <a:solidFill>
                  <a:srgbClr val="0000FF"/>
                </a:solidFill>
              </a:rPr>
              <a:t>Cyclic</a:t>
            </a:r>
            <a:r>
              <a:rPr lang="ro-RO" sz="2000" dirty="0">
                <a:solidFill>
                  <a:srgbClr val="0000FF"/>
                </a:solidFill>
              </a:rPr>
              <a:t>): </a:t>
            </a:r>
            <a:r>
              <a:rPr lang="ro-RO" sz="2000" dirty="0"/>
              <a:t>Execută o listă de POU-uri la intervale de timp regulate (ex: la fiecare 10 ms).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Declanșat de eveniment (Event-</a:t>
            </a:r>
            <a:r>
              <a:rPr lang="ro-RO" sz="2000" dirty="0" err="1">
                <a:solidFill>
                  <a:srgbClr val="0000FF"/>
                </a:solidFill>
              </a:rPr>
              <a:t>triggered</a:t>
            </a:r>
            <a:r>
              <a:rPr lang="ro-RO" sz="2000" dirty="0">
                <a:solidFill>
                  <a:srgbClr val="0000FF"/>
                </a:solidFill>
              </a:rPr>
              <a:t>): </a:t>
            </a:r>
            <a:r>
              <a:rPr lang="ro-RO" sz="2000" dirty="0"/>
              <a:t>Execută codul la apariția unui eveniment specific, cum ar fi tranziția pozitivă a unei variabile booleene (o întrerupere).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dirty="0" err="1">
                <a:solidFill>
                  <a:srgbClr val="0000FF"/>
                </a:solidFill>
              </a:rPr>
              <a:t>Freewhwwling</a:t>
            </a:r>
            <a:r>
              <a:rPr lang="ro-RO" sz="2000" dirty="0">
                <a:solidFill>
                  <a:srgbClr val="0000FF"/>
                </a:solidFill>
              </a:rPr>
              <a:t>: </a:t>
            </a:r>
            <a:r>
              <a:rPr lang="ro-RO" sz="2000" dirty="0"/>
              <a:t>se execută continuu, cât de des posibil, imediat ce scanarea anterioară s-a terminat, fără a avea o perioadă fixă. Ideal pentru sarcinile de fundal.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068DBC79-DA6B-4AE4-BEAC-F4B3D5D96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744" y="868708"/>
            <a:ext cx="3636866" cy="301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63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1179563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Task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(nivelul de 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scheduling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Configurare: </a:t>
            </a:r>
            <a:r>
              <a:rPr lang="ro-RO" sz="2000" dirty="0"/>
              <a:t>Fiecare task are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un nume unic și o configurație care specifică ce programe să apeleze și în ce ordine (</a:t>
            </a:r>
            <a:r>
              <a:rPr lang="ro-RO" sz="2000" dirty="0" err="1">
                <a:solidFill>
                  <a:srgbClr val="0000FF"/>
                </a:solidFill>
              </a:rPr>
              <a:t>call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r>
              <a:rPr lang="ro-RO" sz="2000" dirty="0" err="1">
                <a:solidFill>
                  <a:srgbClr val="0000FF"/>
                </a:solidFill>
              </a:rPr>
              <a:t>chain</a:t>
            </a:r>
            <a:r>
              <a:rPr lang="ro-RO" sz="2000" dirty="0"/>
              <a:t>).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o prioritate în raport cu alte taskuri;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o condiție de declanșare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ro-RO" sz="2000" dirty="0"/>
              <a:t>ciclic, cu o perioadă specificată 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ro-RO" sz="2000" dirty="0"/>
              <a:t>declanșat de evenimente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ro-RO" sz="2000" dirty="0" err="1"/>
              <a:t>freewheeling</a:t>
            </a: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Alocarea priorităților: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în cazul Siemens unele OB au priorități predefinite, altele pot fi definite de utilizator;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Dacă un OB cu prioritate mai mare devine activ, se suspendă execuția OB-</a:t>
            </a:r>
            <a:r>
              <a:rPr lang="ro-RO" sz="2000" dirty="0" err="1"/>
              <a:t>ul</a:t>
            </a:r>
            <a:r>
              <a:rPr lang="ro-RO" sz="2000" dirty="0"/>
              <a:t> în curs de execuție dacă acesta are prioritate mai mică; 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Număr de task-uri pe resursă: </a:t>
            </a:r>
            <a:r>
              <a:rPr lang="ro-RO" sz="2000" dirty="0"/>
              <a:t>p</a:t>
            </a:r>
            <a:r>
              <a:rPr lang="en-US" sz="2000" dirty="0"/>
              <a:t>e </a:t>
            </a:r>
            <a:r>
              <a:rPr lang="ro-RO" sz="2000" dirty="0"/>
              <a:t>aceiași resursă pot exista unul sau mai multe task-uri;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Atenție!  </a:t>
            </a:r>
            <a:r>
              <a:rPr lang="ro-RO" sz="2000" dirty="0"/>
              <a:t>Un task nu conține logică;  Un task nu știe ce limbaj rulează;</a:t>
            </a:r>
          </a:p>
          <a:p>
            <a:pPr lvl="2"/>
            <a:endParaRPr lang="ro-RO" sz="2000" dirty="0"/>
          </a:p>
          <a:p>
            <a:r>
              <a:rPr lang="ro-RO" b="1" dirty="0">
                <a:solidFill>
                  <a:srgbClr val="0000FF"/>
                </a:solidFill>
              </a:rPr>
              <a:t>Remarcă! </a:t>
            </a:r>
            <a:r>
              <a:rPr lang="ro-RO" b="1" dirty="0"/>
              <a:t>Standardul IEC 61131-3 a definit conceptul de task pentru a separa logica de control de mecanismul de scanare al PLC-ului, oferind programatorilor un control fin asupra </a:t>
            </a:r>
            <a:r>
              <a:rPr lang="ro-RO" b="1" dirty="0" err="1"/>
              <a:t>timing</a:t>
            </a:r>
            <a:r>
              <a:rPr lang="ro-RO" b="1" dirty="0"/>
              <a:t>-ului și </a:t>
            </a:r>
            <a:r>
              <a:rPr lang="ro-RO" b="1" dirty="0" err="1"/>
              <a:t>prioritizării</a:t>
            </a:r>
            <a:r>
              <a:rPr lang="ro-RO" b="1" dirty="0"/>
              <a:t> execuției programului, elemente vitale în automatizări industriale complexe. </a:t>
            </a:r>
            <a:endParaRPr lang="ro-RO" sz="2000" b="1" dirty="0"/>
          </a:p>
        </p:txBody>
      </p:sp>
    </p:spTree>
    <p:extLst>
      <p:ext uri="{BB962C8B-B14F-4D97-AF65-F5344CB8AC3E}">
        <p14:creationId xmlns:p14="http://schemas.microsoft.com/office/powerpoint/2010/main" val="188237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11795632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POU (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Programming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Organization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Units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Rol: </a:t>
            </a:r>
            <a:r>
              <a:rPr lang="ro-RO" sz="2000" dirty="0"/>
              <a:t>un POU (</a:t>
            </a:r>
            <a:r>
              <a:rPr lang="ro-RO" sz="2000" i="1" dirty="0"/>
              <a:t>Unitate de Organizare a Programului</a:t>
            </a:r>
            <a:r>
              <a:rPr lang="ro-RO" sz="2000" dirty="0"/>
              <a:t>), este un bloc software modular (Program, Bloc Funcțional sau Funcție) folosit pentru: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a structura aplicațiile PLC,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a permite reutilizarea codului,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organizarea logică și o programare mai eficientă,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Tipuri de POU: </a:t>
            </a:r>
            <a:endParaRPr lang="ro-RO" sz="2000" dirty="0"/>
          </a:p>
          <a:p>
            <a:pPr lvl="3"/>
            <a:r>
              <a:rPr lang="ro-RO" sz="2000" dirty="0"/>
              <a:t>Tipuri de </a:t>
            </a:r>
            <a:r>
              <a:rPr lang="ro-RO" sz="2000" dirty="0" err="1"/>
              <a:t>POUs</a:t>
            </a:r>
            <a:r>
              <a:rPr lang="ro-RO" sz="2000" dirty="0"/>
              <a:t>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Program (PROG): </a:t>
            </a:r>
            <a:r>
              <a:rPr lang="ro-RO" sz="2000" dirty="0"/>
              <a:t>Unitatea principală care definește fluxul de control al aplicației, de obicei, cea care este apelată de task-uri.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Bloc Funcțional (FB): </a:t>
            </a:r>
            <a:r>
              <a:rPr lang="ro-RO" sz="2000" dirty="0"/>
              <a:t>Un subprogram cu memorie internă, capabil să stocheze stări (ex: temporizatoare, contoare).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Funcție (FC): </a:t>
            </a:r>
            <a:r>
              <a:rPr lang="ro-RO" sz="2000" dirty="0"/>
              <a:t>Un subprogram care returnează o valoare și nu are memorie internă (ex: SQRT, ADD).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Caracteristicile POU-urilor</a:t>
            </a:r>
            <a:r>
              <a:rPr lang="ro-RO" sz="2000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ro-RO" sz="2000" dirty="0">
                <a:solidFill>
                  <a:srgbClr val="0000FF"/>
                </a:solidFill>
              </a:rPr>
              <a:t>Modularitate:</a:t>
            </a:r>
            <a:r>
              <a:rPr lang="ro-RO" sz="2000" dirty="0"/>
              <a:t> Împart programul complex în blocuri mai mici, gestionabile.</a:t>
            </a:r>
          </a:p>
          <a:p>
            <a:pPr lvl="3"/>
            <a:r>
              <a:rPr lang="ro-RO" sz="2000" dirty="0">
                <a:solidFill>
                  <a:srgbClr val="0000FF"/>
                </a:solidFill>
              </a:rPr>
              <a:t>Reutilizare: </a:t>
            </a:r>
            <a:r>
              <a:rPr lang="ro-RO" sz="2000" dirty="0"/>
              <a:t>Facilitează copierea și utilizarea aceluiași cod în diferite părți ale proiectului.</a:t>
            </a:r>
          </a:p>
          <a:p>
            <a:pPr lvl="3"/>
            <a:r>
              <a:rPr lang="ro-RO" sz="2000" dirty="0">
                <a:solidFill>
                  <a:srgbClr val="0000FF"/>
                </a:solidFill>
              </a:rPr>
              <a:t>Structurare: </a:t>
            </a:r>
            <a:r>
              <a:rPr lang="ro-RO" sz="2000" dirty="0"/>
              <a:t>Simplifică dezvoltarea, depanarea și întreținerea codului prin organizare ierarhică. </a:t>
            </a:r>
          </a:p>
        </p:txBody>
      </p:sp>
    </p:spTree>
    <p:extLst>
      <p:ext uri="{BB962C8B-B14F-4D97-AF65-F5344CB8AC3E}">
        <p14:creationId xmlns:p14="http://schemas.microsoft.com/office/powerpoint/2010/main" val="2235683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1179563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POU (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Programming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Organization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Units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endParaRPr lang="ro-RO" sz="2400" b="1" dirty="0">
              <a:solidFill>
                <a:srgbClr val="0000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ro-RO" sz="2000" b="1" dirty="0">
              <a:solidFill>
                <a:srgbClr val="0000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Cum este structurat un POU:</a:t>
            </a:r>
          </a:p>
          <a:p>
            <a:pPr lvl="3"/>
            <a:r>
              <a:rPr lang="ro-RO" sz="2000" dirty="0"/>
              <a:t>Fiecare POU are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000" dirty="0"/>
              <a:t>o parte de declarare (pentru variabile)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000" dirty="0"/>
              <a:t>o parte de corp (unde se scrie logica).</a:t>
            </a:r>
          </a:p>
          <a:p>
            <a:pPr lvl="3"/>
            <a:endParaRPr lang="ro-RO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Cum este folosit un POU:</a:t>
            </a:r>
          </a:p>
          <a:p>
            <a:pPr lvl="3"/>
            <a:r>
              <a:rPr lang="ro-RO" sz="2000" dirty="0"/>
              <a:t>- POU-urile pot apela alte POU-uri, </a:t>
            </a:r>
          </a:p>
          <a:p>
            <a:pPr lvl="3"/>
            <a:r>
              <a:rPr lang="ro-RO" sz="2000" dirty="0"/>
              <a:t>- nu este permisă apelarea autoapelarea (un POU nu se poate apela pe sine).</a:t>
            </a:r>
          </a:p>
          <a:p>
            <a:pPr lvl="3"/>
            <a:endParaRPr lang="ro-RO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Ce limbaje de programare sunt permise pentru un POU:</a:t>
            </a:r>
          </a:p>
          <a:p>
            <a:pPr marL="1714500" lvl="3" indent="-342900">
              <a:buFontTx/>
              <a:buChar char="-"/>
            </a:pPr>
            <a:r>
              <a:rPr lang="ro-RO" sz="2000" dirty="0" err="1"/>
              <a:t>Ladder</a:t>
            </a:r>
            <a:r>
              <a:rPr lang="ro-RO" sz="2000" dirty="0"/>
              <a:t> </a:t>
            </a:r>
            <a:r>
              <a:rPr lang="ro-RO" sz="2000" dirty="0" err="1"/>
              <a:t>Diagram</a:t>
            </a:r>
            <a:r>
              <a:rPr lang="ro-RO" sz="2000" dirty="0"/>
              <a:t> (LD), </a:t>
            </a:r>
          </a:p>
          <a:p>
            <a:pPr marL="1714500" lvl="3" indent="-342900">
              <a:buFontTx/>
              <a:buChar char="-"/>
            </a:pPr>
            <a:r>
              <a:rPr lang="ro-RO" sz="2000" dirty="0" err="1"/>
              <a:t>Function</a:t>
            </a:r>
            <a:r>
              <a:rPr lang="ro-RO" sz="2000" dirty="0"/>
              <a:t> Block </a:t>
            </a:r>
            <a:r>
              <a:rPr lang="ro-RO" sz="2000" dirty="0" err="1"/>
              <a:t>Diagram</a:t>
            </a:r>
            <a:r>
              <a:rPr lang="ro-RO" sz="2000" dirty="0"/>
              <a:t> (FBD), </a:t>
            </a:r>
          </a:p>
          <a:p>
            <a:pPr marL="1714500" lvl="3" indent="-342900">
              <a:buFontTx/>
              <a:buChar char="-"/>
            </a:pPr>
            <a:r>
              <a:rPr lang="ro-RO" sz="2000" dirty="0" err="1"/>
              <a:t>Structured</a:t>
            </a:r>
            <a:r>
              <a:rPr lang="ro-RO" sz="2000" dirty="0"/>
              <a:t> Text (ST), </a:t>
            </a:r>
          </a:p>
          <a:p>
            <a:pPr marL="1714500" lvl="3" indent="-342900">
              <a:buFontTx/>
              <a:buChar char="-"/>
            </a:pPr>
            <a:r>
              <a:rPr lang="ro-RO" sz="2000" dirty="0" err="1"/>
              <a:t>Sequential</a:t>
            </a:r>
            <a:r>
              <a:rPr lang="ro-RO" sz="2000" dirty="0"/>
              <a:t> </a:t>
            </a:r>
            <a:r>
              <a:rPr lang="ro-RO" sz="2000" dirty="0" err="1"/>
              <a:t>Function</a:t>
            </a:r>
            <a:r>
              <a:rPr lang="ro-RO" sz="2000" dirty="0"/>
              <a:t> </a:t>
            </a:r>
            <a:r>
              <a:rPr lang="ro-RO" sz="2000" dirty="0" err="1"/>
              <a:t>Chart</a:t>
            </a:r>
            <a:r>
              <a:rPr lang="ro-RO" sz="2000" dirty="0"/>
              <a:t> (SFC), cu excepția blocurilor de tip </a:t>
            </a:r>
            <a:r>
              <a:rPr lang="ro-RO" sz="2000" dirty="0" err="1"/>
              <a:t>Function</a:t>
            </a:r>
            <a:r>
              <a:rPr lang="ro-RO" sz="2000" dirty="0"/>
              <a:t>;</a:t>
            </a:r>
          </a:p>
          <a:p>
            <a:pPr marL="1714500" lvl="3" indent="-342900">
              <a:buFontTx/>
              <a:buChar char="-"/>
            </a:pPr>
            <a:r>
              <a:rPr lang="ro-RO" sz="2000" dirty="0" err="1"/>
              <a:t>Instruction</a:t>
            </a:r>
            <a:r>
              <a:rPr lang="ro-RO" sz="2000" dirty="0"/>
              <a:t> </a:t>
            </a:r>
            <a:r>
              <a:rPr lang="ro-RO" sz="2000" dirty="0" err="1"/>
              <a:t>List</a:t>
            </a:r>
            <a:r>
              <a:rPr lang="ro-RO" sz="2000" dirty="0"/>
              <a:t> (IL)</a:t>
            </a:r>
          </a:p>
        </p:txBody>
      </p:sp>
    </p:spTree>
    <p:extLst>
      <p:ext uri="{BB962C8B-B14F-4D97-AF65-F5344CB8AC3E}">
        <p14:creationId xmlns:p14="http://schemas.microsoft.com/office/powerpoint/2010/main" val="677786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1179563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Function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Block (FB) 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Rol: </a:t>
            </a:r>
            <a:r>
              <a:rPr lang="ro-RO" sz="2000" dirty="0"/>
              <a:t>un FB este o unitate de programare modulară, reutilizabilă, ce încapsulează o funcție specifică (cum ar fi un PID, un temporizator, un contor) având intrări, ieșiri și memorie internă, funcționând ca o "cutie neagră" cu un algoritm ascuns, permițând crearea rapidă de programe prin conectarea vizuală a acestor blocuri în (FBD). Ele sunt esențiale pentru codul structurat, reutilizabil, reducând timpul de dezvoltare și integrare, și sunt definibile în orice limbaj IEC 61131-3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Caracteristicile principale ale unui FB</a:t>
            </a:r>
            <a:r>
              <a:rPr lang="ro-RO" sz="2000" dirty="0">
                <a:solidFill>
                  <a:srgbClr val="0000FF"/>
                </a:solidFill>
              </a:rPr>
              <a:t>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/>
              <a:t>Are</a:t>
            </a:r>
            <a:r>
              <a:rPr lang="ro-RO" sz="2000" dirty="0">
                <a:solidFill>
                  <a:srgbClr val="0000FF"/>
                </a:solidFill>
              </a:rPr>
              <a:t> memorie internă proprie: </a:t>
            </a:r>
            <a:r>
              <a:rPr lang="ro-RO" sz="2000" dirty="0" err="1"/>
              <a:t>FBs</a:t>
            </a:r>
            <a:r>
              <a:rPr lang="ro-RO" sz="2000" dirty="0"/>
              <a:t> își păstrează starea (datele interne) între ciclurile de execuție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Reutilizabile: </a:t>
            </a:r>
            <a:r>
              <a:rPr lang="ro-RO" sz="2000" dirty="0"/>
              <a:t>Odată definit, un FB poate fi </a:t>
            </a:r>
            <a:r>
              <a:rPr lang="ro-RO" sz="2000" dirty="0" err="1"/>
              <a:t>instanțiat</a:t>
            </a:r>
            <a:r>
              <a:rPr lang="ro-RO" sz="2000" dirty="0"/>
              <a:t> (creată ca o copie) de nenumărate ori, cu nume unice, în același program sau în proiecte diferite (ex: un controler PID).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Încapsulare: </a:t>
            </a:r>
            <a:r>
              <a:rPr lang="ro-RO" sz="2000" dirty="0"/>
              <a:t>Ascunde complexitatea internă (algoritmul) în spatele unei interfețe clare de intrări/ieșiri, ca un circuit integrat.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Standardizate:</a:t>
            </a:r>
            <a:r>
              <a:rPr lang="ro-RO" sz="2000" dirty="0"/>
              <a:t> IEC 61131-3 definește funcții și blocuri funcționale standard (MOVE, COMPARE, AND, SQRT, etc.), dar permite și crearea unora personalizate.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Limbaj Grafic (FBD): </a:t>
            </a:r>
            <a:r>
              <a:rPr lang="ro-RO" sz="2000" dirty="0"/>
              <a:t>Sunt componente de bază în </a:t>
            </a:r>
            <a:r>
              <a:rPr lang="ro-RO" sz="2000" dirty="0" err="1"/>
              <a:t>Function</a:t>
            </a:r>
            <a:r>
              <a:rPr lang="ro-RO" sz="2000" dirty="0"/>
              <a:t> Block </a:t>
            </a:r>
            <a:r>
              <a:rPr lang="ro-RO" sz="2000" dirty="0" err="1"/>
              <a:t>Diagram</a:t>
            </a:r>
            <a:r>
              <a:rPr lang="ro-RO" sz="2000" dirty="0"/>
              <a:t> (FBD), unde programatorul le conectează grafic, similar diagramelor logice de flux. </a:t>
            </a:r>
          </a:p>
        </p:txBody>
      </p:sp>
    </p:spTree>
    <p:extLst>
      <p:ext uri="{BB962C8B-B14F-4D97-AF65-F5344CB8AC3E}">
        <p14:creationId xmlns:p14="http://schemas.microsoft.com/office/powerpoint/2010/main" val="2981583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 PLC în standardul IEC 61131-3C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117956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</a:t>
            </a:r>
            <a:r>
              <a:rPr lang="ro-RO" sz="2400" b="1" dirty="0" err="1">
                <a:solidFill>
                  <a:srgbClr val="0000FF"/>
                </a:solidFill>
                <a:sym typeface="Symbol" panose="05050102010706020507" pitchFamily="18" charset="2"/>
              </a:rPr>
              <a:t>Function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 (FC) 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Rol: </a:t>
            </a:r>
            <a:r>
              <a:rPr lang="ro-RO" sz="2000" dirty="0"/>
              <a:t>un FC este un POU fără memorie internă folosit pentru calcule aritmetice sau pentru conversii.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Caracteristicile principale</a:t>
            </a:r>
            <a:r>
              <a:rPr lang="ro-RO" sz="2000" dirty="0">
                <a:solidFill>
                  <a:srgbClr val="0000FF"/>
                </a:solidFill>
              </a:rPr>
              <a:t>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Nu are memorie internă persistentă (de la un ciclu la altul): </a:t>
            </a:r>
            <a:r>
              <a:rPr lang="ro-RO" sz="2000" dirty="0"/>
              <a:t>rezultatul de la ieșire este determinat strict de starea prezentă a intrărilor (similar unui CLC);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Standardizate:</a:t>
            </a:r>
            <a:r>
              <a:rPr lang="ro-RO" sz="2000" dirty="0"/>
              <a:t> IEC 61131-3 definește funcții standard (ADD, SIN, SQRT, etc.), dar permite și crearea unora personalizate.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Reutilizabile: </a:t>
            </a:r>
            <a:r>
              <a:rPr lang="ro-RO" sz="2000" dirty="0"/>
              <a:t>Odată definit, un FC poate fi </a:t>
            </a:r>
            <a:r>
              <a:rPr lang="ro-RO" sz="2000" dirty="0" err="1"/>
              <a:t>instanțiat</a:t>
            </a:r>
            <a:r>
              <a:rPr lang="ro-RO" sz="2000" dirty="0"/>
              <a:t> (creată ca o copie) de nenumărate ori, cu nume unice, în același program sau în proiecte diferite (ex: un controler PID).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Încapsulare: </a:t>
            </a:r>
            <a:r>
              <a:rPr lang="ro-RO" sz="2000" dirty="0"/>
              <a:t>Ascund complexitatea internă a calculelor în spatele unei interfețe clare de intrări/ieșiri, ca un circuit integrat.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Limbaj de programare: </a:t>
            </a:r>
            <a:r>
              <a:rPr lang="ro-RO" sz="2000" dirty="0"/>
              <a:t>Nu permit utilizarea SFC deoarece nu avem memorie internă persistentă. </a:t>
            </a:r>
          </a:p>
        </p:txBody>
      </p:sp>
    </p:spTree>
    <p:extLst>
      <p:ext uri="{BB962C8B-B14F-4D97-AF65-F5344CB8AC3E}">
        <p14:creationId xmlns:p14="http://schemas.microsoft.com/office/powerpoint/2010/main" val="3874774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23648B68-6912-4DF0-B3BE-872457797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733" y="685830"/>
            <a:ext cx="9868969" cy="5613423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45BDED60-AB41-4C97-9262-30E64193778C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program: standard IEC 61131-3C  versus Siemens TIA Portal</a:t>
            </a:r>
          </a:p>
        </p:txBody>
      </p:sp>
    </p:spTree>
    <p:extLst>
      <p:ext uri="{BB962C8B-B14F-4D97-AF65-F5344CB8AC3E}">
        <p14:creationId xmlns:p14="http://schemas.microsoft.com/office/powerpoint/2010/main" val="327090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45BDED60-AB41-4C97-9262-30E64193778C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program: standard IEC 61131-3C  versus Siemens TIA Portal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00EF7A53-C702-417D-88DD-B9264010B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960147"/>
            <a:ext cx="8406671" cy="554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57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45BDED60-AB41-4C97-9262-30E64193778C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Structura unui program: standard IEC 61131-3C  versus Siemens TIA Portal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0E743C34-ACA7-4C6F-937A-2508CF29B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868708"/>
            <a:ext cx="78295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33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954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817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5B0990F-34A6-4B1A-B196-12B458049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-70628"/>
            <a:ext cx="9235339" cy="843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65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73334A7-4DBE-4255-B963-DD24D2A93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52" y="228634"/>
            <a:ext cx="5963918" cy="650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85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E42DCC0-24F4-48A4-98A7-9B359815F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411513"/>
            <a:ext cx="10758432" cy="62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80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51E61CA-600E-4267-A948-812B0E691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195" y="3154683"/>
            <a:ext cx="5419710" cy="1307107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2E25617D-40DA-4EF2-AFE1-C84FDD619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5" y="228635"/>
            <a:ext cx="4257675" cy="282892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1836E0D4-3394-4143-A740-18C0CDC3A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38" y="228635"/>
            <a:ext cx="56007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25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7CD9556-64F8-421E-B472-9BB917868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137196"/>
            <a:ext cx="5000570" cy="640073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74FF2AF8-B951-4842-BF87-5DDF7612B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0074"/>
            <a:ext cx="5305425" cy="23907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73DC2AEF-2BCE-4C05-BC6F-B93CAA79D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80366"/>
            <a:ext cx="5899801" cy="144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761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2E74EBC-35E3-45A5-A0A4-8393D0BA5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11765218" cy="45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30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99954422-C358-42A3-A48C-26ED5107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11948096" cy="502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55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SFC</a:t>
            </a:r>
            <a:endParaRPr lang="ro-RO" sz="3600" b="1" dirty="0">
              <a:solidFill>
                <a:srgbClr val="0000FF"/>
              </a:solidFill>
            </a:endParaRP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  </a:t>
            </a:r>
          </a:p>
          <a:p>
            <a:pPr marL="457200" indent="-457200">
              <a:buFontTx/>
              <a:buChar char="-"/>
            </a:pPr>
            <a:r>
              <a:rPr lang="en-US" sz="3200" b="1" dirty="0" err="1"/>
              <a:t>Componentele</a:t>
            </a:r>
            <a:r>
              <a:rPr lang="en-US" sz="3200" b="1" dirty="0"/>
              <a:t> </a:t>
            </a:r>
            <a:r>
              <a:rPr lang="en-US" sz="3200" b="1" dirty="0" err="1"/>
              <a:t>unui</a:t>
            </a:r>
            <a:r>
              <a:rPr lang="en-US" sz="3200" b="1" dirty="0"/>
              <a:t> program SFC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89858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3616913-0697-4A3B-A548-5449BF8FA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5" y="100012"/>
            <a:ext cx="8401050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02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F7B8A71-19EF-469E-853E-691E517DA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320074"/>
            <a:ext cx="9234340" cy="62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35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20C54FE-CD46-43DD-9C56-2CD2AD35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733" y="411513"/>
            <a:ext cx="797242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8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E3CAFDFF-949F-42C0-BD31-8F124109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11490901" cy="591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3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3F3CB8B-6658-4349-A22D-F2F645263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228635"/>
            <a:ext cx="10726152" cy="635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70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46578EE-A4E3-453B-9F4F-F21BFBFFB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02952"/>
            <a:ext cx="1193482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93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327680C-D704-40E8-B5B8-A9E2B12F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228635"/>
            <a:ext cx="9744075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905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D44B368-E7B3-4AEE-B9B5-A33D74A87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137196"/>
            <a:ext cx="7953375" cy="39052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84184B1-8458-45D3-A6E5-7C4CEB8AE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7" y="2564826"/>
            <a:ext cx="6179822" cy="419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93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A53D474C-3235-498A-B694-45A4C0AAC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228635"/>
            <a:ext cx="73533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612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6AC71BB-411A-4606-AC8E-E630C4BF1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228635"/>
            <a:ext cx="9880539" cy="649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76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63D2FDE-EEEC-4DB9-BFBA-D7848B3F9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733" y="137196"/>
            <a:ext cx="9090690" cy="663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78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6EEDE05B-D535-4127-A4BA-85595ED01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320074"/>
            <a:ext cx="11125145" cy="582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328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82D1CD1-3BC7-4142-8877-4572E080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72" y="110742"/>
            <a:ext cx="9154938" cy="672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93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833F281B-F9A6-4259-8881-851BCB433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361950"/>
            <a:ext cx="916305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23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BD5F851F-BF65-42D0-A968-91B37F19A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502952"/>
            <a:ext cx="922020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01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B767565-F16D-485C-9F2A-3F5B686B3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95300"/>
            <a:ext cx="92964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169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92DB869-F9E3-495D-8ED6-A7AE82C59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733" y="502952"/>
            <a:ext cx="841057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734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486D00A0-D82F-4934-9D6F-B3E4213DD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85750"/>
            <a:ext cx="95250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076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8D437DA-0387-4BDC-9673-68CA2ECD3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332" y="0"/>
            <a:ext cx="78153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23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2936E37-D4E9-4E2E-BA03-273E2BE0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2" y="128587"/>
            <a:ext cx="7991475" cy="66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127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4A7CD322-591E-4628-9DCC-F6B4AB915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152400"/>
            <a:ext cx="831532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571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1292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Siemens GRAPH 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5" y="685830"/>
            <a:ext cx="731512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Stări (</a:t>
            </a:r>
            <a:r>
              <a:rPr lang="ro-RO" sz="2400" b="1" i="1" dirty="0" err="1">
                <a:solidFill>
                  <a:srgbClr val="0000FF"/>
                </a:solidFill>
                <a:sym typeface="Symbol" panose="05050102010706020507" pitchFamily="18" charset="2"/>
              </a:rPr>
              <a:t>Steps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Rol: </a:t>
            </a:r>
            <a:r>
              <a:rPr lang="ro-RO" sz="2000" b="1" dirty="0"/>
              <a:t>Stările  </a:t>
            </a:r>
            <a:r>
              <a:rPr lang="ro-RO" sz="2000" dirty="0">
                <a:solidFill>
                  <a:srgbClr val="FF0000"/>
                </a:solidFill>
              </a:rPr>
              <a:t>simplifică programarea secvențială, oferind o modalitate rapidă de a gestiona controlul ieșirilor, controlul unor biți din memoria automatului, activarea/dezactivarea unor stări din graf, apelarea de FB sau FC, etc.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Durata de activare a unei stări </a:t>
            </a:r>
            <a:r>
              <a:rPr lang="ro-RO" sz="2000" dirty="0"/>
              <a:t>este monitorizată și poate fi accesată de programator prin: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i="1" dirty="0">
                <a:solidFill>
                  <a:srgbClr val="0000FF"/>
                </a:solidFill>
              </a:rPr>
              <a:t>Step4.U </a:t>
            </a:r>
            <a:r>
              <a:rPr lang="ro-RO" sz="2000" dirty="0"/>
              <a:t>– durata de activare fără întrerupere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i="1" dirty="0">
                <a:solidFill>
                  <a:srgbClr val="0000FF"/>
                </a:solidFill>
              </a:rPr>
              <a:t>Step4.T </a:t>
            </a:r>
            <a:r>
              <a:rPr lang="ro-RO" sz="2000" dirty="0"/>
              <a:t>– durata de activare totală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Activarea/Dezactivarea stărilor: </a:t>
            </a:r>
            <a:r>
              <a:rPr lang="ro-RO" sz="2000" dirty="0"/>
              <a:t>este posibilă prin programare folosind instrucțiuni cum ar fi: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i="1" dirty="0">
                <a:solidFill>
                  <a:srgbClr val="0000FF"/>
                </a:solidFill>
              </a:rPr>
              <a:t>S1 OFF STEP3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i="1" dirty="0">
                <a:solidFill>
                  <a:srgbClr val="0000FF"/>
                </a:solidFill>
              </a:rPr>
              <a:t>S1 ON STEP12 </a:t>
            </a:r>
            <a:endParaRPr lang="ro-RO" i="1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EF26FB9F-BDB3-4E4A-BB35-EDA08C5C6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02" y="1325903"/>
            <a:ext cx="4275758" cy="195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511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5922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5628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Siemens GRAPH – </a:t>
            </a:r>
            <a:r>
              <a:rPr lang="ro-RO" b="1" i="1" dirty="0"/>
              <a:t>Acțiuni (</a:t>
            </a:r>
            <a:r>
              <a:rPr lang="ro-RO" b="1" i="1" dirty="0" err="1"/>
              <a:t>Actions</a:t>
            </a:r>
            <a:r>
              <a:rPr lang="ro-RO" b="1" i="1" dirty="0"/>
              <a:t>)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5" y="685830"/>
            <a:ext cx="731512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Acțiuni efectuate pe stări (</a:t>
            </a:r>
            <a:r>
              <a:rPr lang="ro-RO" sz="2400" b="1" i="1" dirty="0" err="1">
                <a:sym typeface="Symbol" panose="05050102010706020507" pitchFamily="18" charset="2"/>
              </a:rPr>
              <a:t>Actions</a:t>
            </a:r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Rol: </a:t>
            </a:r>
            <a:r>
              <a:rPr lang="ro-RO" sz="2000" b="1" dirty="0"/>
              <a:t>Acțiunile </a:t>
            </a:r>
            <a:r>
              <a:rPr lang="ro-RO" sz="2000" dirty="0"/>
              <a:t>simplifică programarea secvențială, oferind o modalitate rapidă de a gestiona controlul ieșirilor, controlul unor biți din memoria automatului, activarea/dezactivarea unor stări din graf, apelarea de FB sau FC, etc.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Pentru fiecare stare se poate specifica o listă de acțiuni</a:t>
            </a:r>
            <a:endParaRPr lang="ro-RO" sz="2000" dirty="0"/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Ordinea de execuție a instrucțiunilor de pe o stare </a:t>
            </a:r>
            <a:r>
              <a:rPr lang="ro-RO" sz="2000" b="1" dirty="0"/>
              <a:t> </a:t>
            </a:r>
            <a:r>
              <a:rPr lang="ro-RO" sz="2000" dirty="0"/>
              <a:t>- dacă starea este activă instrucțiunile se execută de sus în jos în ordinea în care au fost scrise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Clasificarea acțiunilor: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Standard </a:t>
            </a:r>
            <a:r>
              <a:rPr lang="ro-RO" sz="2000" dirty="0" err="1">
                <a:solidFill>
                  <a:srgbClr val="0000FF"/>
                </a:solidFill>
              </a:rPr>
              <a:t>actions</a:t>
            </a:r>
            <a:endParaRPr lang="ro-RO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Event – dependent </a:t>
            </a:r>
            <a:r>
              <a:rPr lang="ro-RO" sz="2000" dirty="0" err="1">
                <a:solidFill>
                  <a:srgbClr val="0000FF"/>
                </a:solidFill>
              </a:rPr>
              <a:t>actions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endParaRPr lang="ro-RO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 err="1">
                <a:solidFill>
                  <a:srgbClr val="0000FF"/>
                </a:solidFill>
              </a:rPr>
              <a:t>Countere</a:t>
            </a:r>
            <a:r>
              <a:rPr lang="ro-RO" sz="2000" dirty="0">
                <a:solidFill>
                  <a:srgbClr val="0000FF"/>
                </a:solidFill>
              </a:rPr>
              <a:t>, </a:t>
            </a:r>
            <a:r>
              <a:rPr lang="ro-RO" sz="2000" dirty="0" err="1">
                <a:solidFill>
                  <a:srgbClr val="0000FF"/>
                </a:solidFill>
              </a:rPr>
              <a:t>Timere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r>
              <a:rPr lang="ro-RO" sz="2000" dirty="0" err="1">
                <a:solidFill>
                  <a:srgbClr val="0000FF"/>
                </a:solidFill>
              </a:rPr>
              <a:t>and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r>
              <a:rPr lang="ro-RO" sz="2000" dirty="0" err="1">
                <a:solidFill>
                  <a:srgbClr val="0000FF"/>
                </a:solidFill>
              </a:rPr>
              <a:t>Arithmetic</a:t>
            </a:r>
            <a:r>
              <a:rPr lang="ro-RO" sz="2000" dirty="0">
                <a:solidFill>
                  <a:srgbClr val="0000FF"/>
                </a:solidFill>
              </a:rPr>
              <a:t> in </a:t>
            </a:r>
            <a:r>
              <a:rPr lang="ro-RO" sz="2000" dirty="0" err="1">
                <a:solidFill>
                  <a:srgbClr val="0000FF"/>
                </a:solidFill>
              </a:rPr>
              <a:t>actions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r>
              <a:rPr lang="ro-RO" sz="2000" dirty="0"/>
              <a:t> 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o-RO" sz="2000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EF26FB9F-BDB3-4E4A-BB35-EDA08C5C6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02" y="1325903"/>
            <a:ext cx="4275758" cy="195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171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1179563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ym typeface="Symbol" panose="05050102010706020507" pitchFamily="18" charset="2"/>
              </a:rPr>
              <a:t>Acțiuni standard (cu sau fără interblocare) </a:t>
            </a: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16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Acțiuni standard  - </a:t>
            </a:r>
            <a:r>
              <a:rPr lang="ro-RO" sz="2000" dirty="0"/>
              <a:t>lansarea în execuție a acestor acțiuni este condiționată doar de bitul de stare, ele nu depind de alte evenimente sau condiții externe;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Acțiuni standard cu interblocare   - </a:t>
            </a:r>
            <a:r>
              <a:rPr lang="ro-RO" sz="2000" dirty="0"/>
              <a:t>pentru lansarea în execuție a acestor acțiuni trebuie </a:t>
            </a:r>
            <a:r>
              <a:rPr lang="ro-RO" sz="2000" dirty="0" err="1"/>
              <a:t>indeplinite</a:t>
            </a:r>
            <a:r>
              <a:rPr lang="ro-RO" sz="2000" dirty="0"/>
              <a:t> simultan 2 condiții:</a:t>
            </a:r>
          </a:p>
          <a:p>
            <a:pPr marL="2171700" lvl="4" indent="-342900">
              <a:buFont typeface="Courier New" panose="02070309020205020404" pitchFamily="49" charset="0"/>
              <a:buChar char="o"/>
            </a:pPr>
            <a:r>
              <a:rPr lang="ro-RO" sz="2000" dirty="0"/>
              <a:t>starea să fie activă</a:t>
            </a:r>
          </a:p>
          <a:p>
            <a:pPr marL="2171700" lvl="4" indent="-342900">
              <a:buFont typeface="Courier New" panose="02070309020205020404" pitchFamily="49" charset="0"/>
              <a:buChar char="o"/>
            </a:pPr>
            <a:r>
              <a:rPr lang="ro-RO" sz="2000" dirty="0"/>
              <a:t>condiția de interblocare (simbolizată prin litera C) să fie TRUE</a:t>
            </a:r>
          </a:p>
          <a:p>
            <a:pPr lvl="1"/>
            <a:r>
              <a:rPr lang="ro-RO" sz="2000" b="1" dirty="0">
                <a:solidFill>
                  <a:srgbClr val="0000FF"/>
                </a:solidFill>
              </a:rPr>
              <a:t>	</a:t>
            </a:r>
            <a:r>
              <a:rPr lang="ro-RO" sz="2000" b="1" dirty="0"/>
              <a:t>Condiția de interblocare </a:t>
            </a:r>
            <a:r>
              <a:rPr lang="en-US" sz="2000" b="1" dirty="0"/>
              <a:t>[C]</a:t>
            </a:r>
            <a:r>
              <a:rPr lang="ro-RO" sz="2000" b="1" dirty="0"/>
              <a:t>:  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r>
              <a:rPr lang="ro-RO" sz="2000" dirty="0"/>
              <a:t>este opțională și poate fi specificată pentru fiecare stare în parte (altfel spus, fiecare step poate avea o condiție proprie de interblocare)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r>
              <a:rPr lang="ro-RO" sz="2000" dirty="0"/>
              <a:t>are efect doar asupra instrucțiunilor de pe stare care au litera </a:t>
            </a:r>
            <a:r>
              <a:rPr lang="ro-RO" sz="2000" b="1" i="1" dirty="0">
                <a:solidFill>
                  <a:srgbClr val="0000FF"/>
                </a:solidFill>
              </a:rPr>
              <a:t>C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r>
              <a:rPr lang="ro-RO" sz="2000" dirty="0"/>
              <a:t>dacă </a:t>
            </a:r>
            <a:r>
              <a:rPr lang="ro-RO" sz="2000" dirty="0">
                <a:solidFill>
                  <a:srgbClr val="0000FF"/>
                </a:solidFill>
              </a:rPr>
              <a:t>condiția de interblocare </a:t>
            </a:r>
            <a:r>
              <a:rPr lang="ro-RO" sz="2000" dirty="0"/>
              <a:t>este </a:t>
            </a:r>
          </a:p>
          <a:p>
            <a:pPr marL="2628900" lvl="5" indent="-342900">
              <a:buFont typeface="Courier New" panose="02070309020205020404" pitchFamily="49" charset="0"/>
              <a:buChar char="o"/>
            </a:pPr>
            <a:r>
              <a:rPr lang="ro-RO" sz="2000" i="1" dirty="0">
                <a:solidFill>
                  <a:srgbClr val="0000FF"/>
                </a:solidFill>
              </a:rPr>
              <a:t>adevărată</a:t>
            </a:r>
            <a:r>
              <a:rPr lang="ro-RO" sz="2000" dirty="0"/>
              <a:t> </a:t>
            </a:r>
            <a:r>
              <a:rPr lang="ro-RO" sz="2000" dirty="0">
                <a:sym typeface="Symbol" panose="05050102010706020507" pitchFamily="18" charset="2"/>
              </a:rPr>
              <a:t> sunt </a:t>
            </a:r>
            <a:r>
              <a:rPr lang="ro-RO" sz="2000" dirty="0"/>
              <a:t>blocate (dezactivate) toate acțiunile din listă ce au litera </a:t>
            </a:r>
            <a:r>
              <a:rPr lang="ro-RO" sz="2000" b="1" i="1" dirty="0">
                <a:solidFill>
                  <a:srgbClr val="0000FF"/>
                </a:solidFill>
              </a:rPr>
              <a:t>C</a:t>
            </a:r>
            <a:endParaRPr lang="ro-RO" sz="2000" dirty="0"/>
          </a:p>
          <a:p>
            <a:pPr marL="2628900" lvl="5" indent="-342900">
              <a:buFont typeface="Courier New" panose="02070309020205020404" pitchFamily="49" charset="0"/>
              <a:buChar char="o"/>
            </a:pPr>
            <a:r>
              <a:rPr lang="ro-RO" sz="2000" i="1" dirty="0">
                <a:solidFill>
                  <a:srgbClr val="0000FF"/>
                </a:solidFill>
              </a:rPr>
              <a:t>falsă</a:t>
            </a:r>
            <a:r>
              <a:rPr lang="ro-RO" sz="2000" dirty="0"/>
              <a:t> </a:t>
            </a:r>
            <a:r>
              <a:rPr lang="ro-RO" sz="2000" dirty="0">
                <a:sym typeface="Symbol" panose="05050102010706020507" pitchFamily="18" charset="2"/>
              </a:rPr>
              <a:t> sunt activate toate acțiunile din listă atâta timp cât starea este activă;</a:t>
            </a:r>
          </a:p>
          <a:p>
            <a:pPr lvl="2"/>
            <a:r>
              <a:rPr lang="ro-RO" sz="2000" i="1" dirty="0">
                <a:solidFill>
                  <a:srgbClr val="0000FF"/>
                </a:solidFill>
              </a:rPr>
              <a:t>Atenție! 1) Condiția C se poate activa/dezactiva de mai multe ori pe durata de activare a unui step.</a:t>
            </a:r>
          </a:p>
          <a:p>
            <a:pPr lvl="2"/>
            <a:r>
              <a:rPr lang="ro-RO" sz="2000" i="1" dirty="0">
                <a:solidFill>
                  <a:srgbClr val="0000FF"/>
                </a:solidFill>
              </a:rPr>
              <a:t>Atenție! 2) Activarea condiției de interlock nu determină dezactivarea step-ului, efectul sau este resimțit doar la acțiunile cu interlock, prin dezactivarea acestora.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dirty="0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8C24EAFB-00BD-4708-AE16-7BBDB9C7C250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Siemens GRAPH – </a:t>
            </a:r>
            <a:r>
              <a:rPr lang="ro-RO" b="1" i="1" dirty="0"/>
              <a:t>Acțiuni (</a:t>
            </a:r>
            <a:r>
              <a:rPr lang="ro-RO" b="1" i="1" dirty="0" err="1"/>
              <a:t>Actions</a:t>
            </a:r>
            <a:r>
              <a:rPr lang="ro-RO" b="1" i="1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9900840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152465" y="685830"/>
            <a:ext cx="3748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¨"/>
            </a:pPr>
            <a:r>
              <a:rPr lang="ro-RO" sz="2400" b="1" dirty="0">
                <a:sym typeface="Symbol" panose="05050102010706020507" pitchFamily="18" charset="2"/>
              </a:rPr>
              <a:t>Lista acțiunilor standard (cu sau fără interblocare)</a:t>
            </a:r>
            <a:endParaRPr lang="ro-RO" sz="2000" b="1" dirty="0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8C24EAFB-00BD-4708-AE16-7BBDB9C7C250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Siemens GRAPH – </a:t>
            </a:r>
            <a:r>
              <a:rPr lang="ro-RO" b="1" i="1" dirty="0"/>
              <a:t>Acțiuni (</a:t>
            </a:r>
            <a:r>
              <a:rPr lang="ro-RO" b="1" i="1" dirty="0" err="1"/>
              <a:t>Actions</a:t>
            </a:r>
            <a:r>
              <a:rPr lang="ro-RO" b="1" i="1" dirty="0"/>
              <a:t>) 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250D7E61-84D8-452C-94CC-37469E8C8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903" y="411513"/>
            <a:ext cx="8053580" cy="635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810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1179563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ym typeface="Symbol" panose="05050102010706020507" pitchFamily="18" charset="2"/>
              </a:rPr>
              <a:t>Acțiuni determinate de evenimente (Event </a:t>
            </a:r>
            <a:r>
              <a:rPr lang="ro-RO" sz="2400" b="1" dirty="0" err="1">
                <a:sym typeface="Symbol" panose="05050102010706020507" pitchFamily="18" charset="2"/>
              </a:rPr>
              <a:t>Actions</a:t>
            </a:r>
            <a:r>
              <a:rPr lang="ro-RO" sz="2400" b="1" dirty="0">
                <a:sym typeface="Symbol" panose="05050102010706020507" pitchFamily="18" charset="2"/>
              </a:rPr>
              <a:t>) </a:t>
            </a: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1600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Acțiuni standard  - </a:t>
            </a:r>
            <a:r>
              <a:rPr lang="ro-RO" sz="2000" dirty="0"/>
              <a:t>lansarea în execuție a acestor acțiuni este condiționată doar de bitul de stare, ele nu depind de alte evenimente sau condiții externe;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Acțiuni standard cu interblocare   - </a:t>
            </a:r>
            <a:r>
              <a:rPr lang="ro-RO" sz="2000" dirty="0"/>
              <a:t>pentru lansarea în execuție a acestor acțiuni trebuie </a:t>
            </a:r>
            <a:r>
              <a:rPr lang="ro-RO" sz="2000" dirty="0" err="1"/>
              <a:t>indeplinite</a:t>
            </a:r>
            <a:r>
              <a:rPr lang="ro-RO" sz="2000" dirty="0"/>
              <a:t> simultan 2 condiții:</a:t>
            </a:r>
          </a:p>
          <a:p>
            <a:pPr marL="2171700" lvl="4" indent="-342900">
              <a:buFont typeface="Courier New" panose="02070309020205020404" pitchFamily="49" charset="0"/>
              <a:buChar char="o"/>
            </a:pPr>
            <a:r>
              <a:rPr lang="ro-RO" sz="2000" dirty="0"/>
              <a:t>starea să fie activă</a:t>
            </a:r>
          </a:p>
          <a:p>
            <a:pPr marL="2171700" lvl="4" indent="-342900">
              <a:buFont typeface="Courier New" panose="02070309020205020404" pitchFamily="49" charset="0"/>
              <a:buChar char="o"/>
            </a:pPr>
            <a:r>
              <a:rPr lang="ro-RO" sz="2000" dirty="0"/>
              <a:t>condiția de interblocare (simbolizată prin litera C) să fie TRUE</a:t>
            </a:r>
          </a:p>
          <a:p>
            <a:pPr lvl="1"/>
            <a:r>
              <a:rPr lang="ro-RO" sz="2000" b="1" dirty="0">
                <a:solidFill>
                  <a:srgbClr val="0000FF"/>
                </a:solidFill>
              </a:rPr>
              <a:t>	</a:t>
            </a:r>
            <a:r>
              <a:rPr lang="ro-RO" sz="2000" b="1" dirty="0"/>
              <a:t>Condiția de interblocare </a:t>
            </a:r>
            <a:r>
              <a:rPr lang="en-US" sz="2000" b="1" dirty="0"/>
              <a:t>[C]</a:t>
            </a:r>
            <a:r>
              <a:rPr lang="ro-RO" sz="2000" b="1" dirty="0"/>
              <a:t>:  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r>
              <a:rPr lang="ro-RO" sz="2000" dirty="0"/>
              <a:t>este opțională și poate fi specificată pentru fiecare stare în parte (altfel spus, fiecare step poate avea o condiție proprie de interblocare)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r>
              <a:rPr lang="ro-RO" sz="2000" dirty="0"/>
              <a:t>are efect doar asupra instrucțiunilor de pe stare care au litera </a:t>
            </a:r>
            <a:r>
              <a:rPr lang="ro-RO" sz="2000" b="1" i="1" dirty="0">
                <a:solidFill>
                  <a:srgbClr val="0000FF"/>
                </a:solidFill>
              </a:rPr>
              <a:t>C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r>
              <a:rPr lang="ro-RO" sz="2000" dirty="0"/>
              <a:t>dacă </a:t>
            </a:r>
            <a:r>
              <a:rPr lang="ro-RO" sz="2000" dirty="0">
                <a:solidFill>
                  <a:srgbClr val="0000FF"/>
                </a:solidFill>
              </a:rPr>
              <a:t>condiția de interblocare </a:t>
            </a:r>
            <a:r>
              <a:rPr lang="ro-RO" sz="2000" dirty="0"/>
              <a:t>este </a:t>
            </a:r>
          </a:p>
          <a:p>
            <a:pPr marL="2628900" lvl="5" indent="-342900">
              <a:buFont typeface="Courier New" panose="02070309020205020404" pitchFamily="49" charset="0"/>
              <a:buChar char="o"/>
            </a:pPr>
            <a:r>
              <a:rPr lang="ro-RO" sz="2000" i="1" dirty="0">
                <a:solidFill>
                  <a:srgbClr val="0000FF"/>
                </a:solidFill>
              </a:rPr>
              <a:t>adevărată</a:t>
            </a:r>
            <a:r>
              <a:rPr lang="ro-RO" sz="2000" dirty="0"/>
              <a:t> </a:t>
            </a:r>
            <a:r>
              <a:rPr lang="ro-RO" sz="2000" dirty="0">
                <a:sym typeface="Symbol" panose="05050102010706020507" pitchFamily="18" charset="2"/>
              </a:rPr>
              <a:t> sunt </a:t>
            </a:r>
            <a:r>
              <a:rPr lang="ro-RO" sz="2000" dirty="0"/>
              <a:t>blocate (dezactivate) toate acțiunile din listă ce au litera </a:t>
            </a:r>
            <a:r>
              <a:rPr lang="ro-RO" sz="2000" b="1" i="1" dirty="0">
                <a:solidFill>
                  <a:srgbClr val="0000FF"/>
                </a:solidFill>
              </a:rPr>
              <a:t>C</a:t>
            </a:r>
            <a:endParaRPr lang="ro-RO" sz="2000" dirty="0"/>
          </a:p>
          <a:p>
            <a:pPr marL="2628900" lvl="5" indent="-342900">
              <a:buFont typeface="Courier New" panose="02070309020205020404" pitchFamily="49" charset="0"/>
              <a:buChar char="o"/>
            </a:pPr>
            <a:r>
              <a:rPr lang="ro-RO" sz="2000" i="1" dirty="0">
                <a:solidFill>
                  <a:srgbClr val="0000FF"/>
                </a:solidFill>
              </a:rPr>
              <a:t>falsă</a:t>
            </a:r>
            <a:r>
              <a:rPr lang="ro-RO" sz="2000" dirty="0"/>
              <a:t> </a:t>
            </a:r>
            <a:r>
              <a:rPr lang="ro-RO" sz="2000" dirty="0">
                <a:sym typeface="Symbol" panose="05050102010706020507" pitchFamily="18" charset="2"/>
              </a:rPr>
              <a:t> sunt activate toate acțiunile din listă atâta timp cât starea este activă;</a:t>
            </a:r>
          </a:p>
          <a:p>
            <a:pPr lvl="2"/>
            <a:r>
              <a:rPr lang="ro-RO" sz="2000" i="1" dirty="0">
                <a:solidFill>
                  <a:srgbClr val="0000FF"/>
                </a:solidFill>
              </a:rPr>
              <a:t>Atenție! 1) Condiția C se poate activa/dezactiva de mai multe ori pe durata de activare a unui step.</a:t>
            </a:r>
          </a:p>
          <a:p>
            <a:pPr lvl="2"/>
            <a:r>
              <a:rPr lang="ro-RO" sz="2000" i="1" dirty="0">
                <a:solidFill>
                  <a:srgbClr val="0000FF"/>
                </a:solidFill>
              </a:rPr>
              <a:t>Atenție! 2) Activarea condiției de interlock nu determină dezactivarea step-ului, efectul sau este resimțit doar la acțiunile cu interlock, prin dezactivarea acestora.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sz="2000" dirty="0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8C24EAFB-00BD-4708-AE16-7BBDB9C7C250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Siemens GRAPH – </a:t>
            </a:r>
            <a:r>
              <a:rPr lang="ro-RO" b="1" i="1" dirty="0"/>
              <a:t>Acțiuni (</a:t>
            </a:r>
            <a:r>
              <a:rPr lang="ro-RO" b="1" i="1" dirty="0" err="1"/>
              <a:t>Actions</a:t>
            </a:r>
            <a:r>
              <a:rPr lang="ro-RO" b="1" i="1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8271971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3" y="685830"/>
            <a:ext cx="11795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ym typeface="Symbol" panose="05050102010706020507" pitchFamily="18" charset="2"/>
              </a:rPr>
              <a:t>Acțiuni determinate de evenimente </a:t>
            </a:r>
            <a:endParaRPr lang="ro-RO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Lista acțiunilor standard cu ă interblocare</a:t>
            </a:r>
            <a:endParaRPr lang="ro-RO" sz="2000" dirty="0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8C24EAFB-00BD-4708-AE16-7BBDB9C7C250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Siemens GRAPH – </a:t>
            </a:r>
            <a:r>
              <a:rPr lang="ro-RO" b="1" i="1" dirty="0"/>
              <a:t>Acțiuni (</a:t>
            </a:r>
            <a:r>
              <a:rPr lang="ro-RO" b="1" i="1" dirty="0" err="1"/>
              <a:t>Actions</a:t>
            </a:r>
            <a:r>
              <a:rPr lang="ro-RO" b="1" i="1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9775401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6FF5A183-F321-45F7-886E-8FC1A36E8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903" y="4251951"/>
            <a:ext cx="677227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120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DD94A24-F85E-43DB-B385-ED4CBD9FD29E}"/>
              </a:ext>
            </a:extLst>
          </p:cNvPr>
          <p:cNvSpPr/>
          <p:nvPr/>
        </p:nvSpPr>
        <p:spPr>
          <a:xfrm>
            <a:off x="518221" y="228635"/>
            <a:ext cx="9509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Siemens GRAPH – Condiții de supervizare 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3450A0-1626-42BC-8776-ACD3A006B5D6}"/>
              </a:ext>
            </a:extLst>
          </p:cNvPr>
          <p:cNvSpPr txBox="1"/>
          <p:nvPr/>
        </p:nvSpPr>
        <p:spPr>
          <a:xfrm>
            <a:off x="243904" y="685830"/>
            <a:ext cx="1161275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sym typeface="Symbol" panose="05050102010706020507" pitchFamily="18" charset="2"/>
              </a:rPr>
              <a:t>Condiții de supervizare</a:t>
            </a: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Rol: </a:t>
            </a:r>
            <a:r>
              <a:rPr lang="ro-RO" sz="2000" b="1" dirty="0"/>
              <a:t>Condițiile de supervizare </a:t>
            </a:r>
            <a:r>
              <a:rPr lang="ro-RO" sz="2000" dirty="0"/>
              <a:t>sunt folosite pentru a bloca funcționarea programului în cazul apariției unor erori sau a unor situații de funcționare anormală.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Pentru fiecare stare se poate specifica o condiție de supervizare</a:t>
            </a:r>
            <a:endParaRPr lang="ro-RO" sz="2000" dirty="0"/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Ordinea de execuție a instrucțiunilor de pe o stare </a:t>
            </a:r>
            <a:r>
              <a:rPr lang="ro-RO" sz="2000" b="1" dirty="0"/>
              <a:t> </a:t>
            </a:r>
            <a:r>
              <a:rPr lang="ro-RO" sz="2000" dirty="0"/>
              <a:t>- dacă starea este activă instrucțiunile se execută de sus în jos în ordinea în care au fost scrise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rgbClr val="0000FF"/>
                </a:solidFill>
              </a:rPr>
              <a:t>Clasificarea acțiunilor: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Standard </a:t>
            </a:r>
            <a:r>
              <a:rPr lang="ro-RO" sz="2000" dirty="0" err="1">
                <a:solidFill>
                  <a:srgbClr val="0000FF"/>
                </a:solidFill>
              </a:rPr>
              <a:t>actions</a:t>
            </a:r>
            <a:endParaRPr lang="ro-RO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0000FF"/>
                </a:solidFill>
              </a:rPr>
              <a:t>Event – dependent </a:t>
            </a:r>
            <a:r>
              <a:rPr lang="ro-RO" sz="2000" dirty="0" err="1">
                <a:solidFill>
                  <a:srgbClr val="0000FF"/>
                </a:solidFill>
              </a:rPr>
              <a:t>actions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endParaRPr lang="ro-RO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000" dirty="0" err="1">
                <a:solidFill>
                  <a:srgbClr val="0000FF"/>
                </a:solidFill>
              </a:rPr>
              <a:t>Countere</a:t>
            </a:r>
            <a:r>
              <a:rPr lang="ro-RO" sz="2000" dirty="0">
                <a:solidFill>
                  <a:srgbClr val="0000FF"/>
                </a:solidFill>
              </a:rPr>
              <a:t>, </a:t>
            </a:r>
            <a:r>
              <a:rPr lang="ro-RO" sz="2000" dirty="0" err="1">
                <a:solidFill>
                  <a:srgbClr val="0000FF"/>
                </a:solidFill>
              </a:rPr>
              <a:t>Timere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r>
              <a:rPr lang="ro-RO" sz="2000" dirty="0" err="1">
                <a:solidFill>
                  <a:srgbClr val="0000FF"/>
                </a:solidFill>
              </a:rPr>
              <a:t>and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r>
              <a:rPr lang="ro-RO" sz="2000" dirty="0" err="1">
                <a:solidFill>
                  <a:srgbClr val="0000FF"/>
                </a:solidFill>
              </a:rPr>
              <a:t>Arithmetic</a:t>
            </a:r>
            <a:r>
              <a:rPr lang="ro-RO" sz="2000" dirty="0">
                <a:solidFill>
                  <a:srgbClr val="0000FF"/>
                </a:solidFill>
              </a:rPr>
              <a:t> in </a:t>
            </a:r>
            <a:r>
              <a:rPr lang="ro-RO" sz="2000" dirty="0" err="1">
                <a:solidFill>
                  <a:srgbClr val="0000FF"/>
                </a:solidFill>
              </a:rPr>
              <a:t>actions</a:t>
            </a:r>
            <a:r>
              <a:rPr lang="ro-RO" sz="2000" dirty="0">
                <a:solidFill>
                  <a:srgbClr val="0000FF"/>
                </a:solidFill>
              </a:rPr>
              <a:t> </a:t>
            </a:r>
            <a:r>
              <a:rPr lang="ro-RO" sz="2000" dirty="0"/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86BB5A7-BD19-4F5A-9A4E-0266F36D9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0" y="3977634"/>
            <a:ext cx="5009681" cy="210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548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4997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SFC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4703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 1">
            <a:extLst>
              <a:ext uri="{FF2B5EF4-FFF2-40B4-BE49-F238E27FC236}">
                <a16:creationId xmlns:a16="http://schemas.microsoft.com/office/drawing/2014/main" id="{D5C25A90-85D0-4D02-AA79-56CF3ED7F50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039532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797838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70122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/>
                        <a:t>IEC 61131-3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Siemens S7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Observații importante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769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b="1"/>
                        <a:t>Configuration</a:t>
                      </a:r>
                      <a:endParaRPr lang="ro-R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Hardware Configuration +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Conceptual, nu ca obiect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797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b="1"/>
                        <a:t>Resource</a:t>
                      </a:r>
                      <a:endParaRPr lang="ro-R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CPU (ex. S7-1500 CPU)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1 CPU = 1 Resource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957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b="1"/>
                        <a:t>Task</a:t>
                      </a:r>
                      <a:endParaRPr lang="ro-R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OB (Organization Block)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OB = unitate de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21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b="1"/>
                        <a:t>Program</a:t>
                      </a:r>
                      <a:endParaRPr lang="ro-R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OB + apeluri FC/FB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Nu există Program pur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711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b="1"/>
                        <a:t>Function Block (FB)</a:t>
                      </a:r>
                      <a:endParaRPr lang="ro-R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FB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1:1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252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b="1"/>
                        <a:t>Function (FC)</a:t>
                      </a:r>
                      <a:endParaRPr lang="ro-R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FC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1:1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667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b="1"/>
                        <a:t>Global Variables</a:t>
                      </a:r>
                      <a:endParaRPr lang="ro-R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DB global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Mapare 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018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o-RO" b="1"/>
                        <a:t>Instance Memory</a:t>
                      </a:r>
                      <a:endParaRPr lang="ro-R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/>
                        <a:t>Instance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Pentru FB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18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067115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8266</TotalTime>
  <Words>2799</Words>
  <Application>Microsoft Office PowerPoint</Application>
  <PresentationFormat>Ecran lat</PresentationFormat>
  <Paragraphs>406</Paragraphs>
  <Slides>69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69</vt:i4>
      </vt:variant>
    </vt:vector>
  </HeadingPairs>
  <TitlesOfParts>
    <vt:vector size="75" baseType="lpstr">
      <vt:lpstr>Arial</vt:lpstr>
      <vt:lpstr>Calibri</vt:lpstr>
      <vt:lpstr>Calibri Light</vt:lpstr>
      <vt:lpstr>Courier New</vt:lpstr>
      <vt:lpstr>Symbol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421</cp:revision>
  <dcterms:created xsi:type="dcterms:W3CDTF">2020-09-24T15:20:51Z</dcterms:created>
  <dcterms:modified xsi:type="dcterms:W3CDTF">2025-12-18T11:45:02Z</dcterms:modified>
</cp:coreProperties>
</file>