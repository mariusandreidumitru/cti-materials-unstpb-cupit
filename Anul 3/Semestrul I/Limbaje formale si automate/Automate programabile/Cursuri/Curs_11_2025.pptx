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0" r:id="rId2"/>
    <p:sldId id="387" r:id="rId3"/>
    <p:sldId id="359" r:id="rId4"/>
    <p:sldId id="355" r:id="rId5"/>
    <p:sldId id="367" r:id="rId6"/>
    <p:sldId id="369" r:id="rId7"/>
    <p:sldId id="360" r:id="rId8"/>
    <p:sldId id="389" r:id="rId9"/>
    <p:sldId id="365" r:id="rId10"/>
    <p:sldId id="357" r:id="rId11"/>
    <p:sldId id="358" r:id="rId12"/>
    <p:sldId id="362" r:id="rId13"/>
    <p:sldId id="372" r:id="rId14"/>
    <p:sldId id="371" r:id="rId15"/>
    <p:sldId id="390" r:id="rId16"/>
    <p:sldId id="392" r:id="rId17"/>
    <p:sldId id="399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93" r:id="rId28"/>
    <p:sldId id="388" r:id="rId29"/>
    <p:sldId id="394" r:id="rId30"/>
    <p:sldId id="395" r:id="rId31"/>
    <p:sldId id="396" r:id="rId32"/>
    <p:sldId id="397" r:id="rId33"/>
    <p:sldId id="398" r:id="rId34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07.12.2025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07.12.2025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11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11         08 Dece</a:t>
            </a:r>
            <a:r>
              <a:rPr lang="en-US" sz="3200" b="1" dirty="0" err="1">
                <a:solidFill>
                  <a:srgbClr val="0000FF"/>
                </a:solidFill>
              </a:rPr>
              <a:t>mbrie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320074"/>
            <a:ext cx="1115555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gendă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endParaRPr lang="ro-RO" sz="3600" b="1" dirty="0">
              <a:solidFill>
                <a:srgbClr val="0000FF"/>
              </a:solidFill>
            </a:endParaRPr>
          </a:p>
          <a:p>
            <a:pPr lvl="2">
              <a:defRPr/>
            </a:pPr>
            <a:endParaRPr lang="ro-RO" sz="2800" b="1" dirty="0"/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Utilizarea instrucțiunilor de manipulare a datelor pentru codificarea stărilor din diagrama de tranziție a stărilor:</a:t>
            </a:r>
          </a:p>
          <a:p>
            <a:pPr marL="571500" indent="-5715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>
                <a:solidFill>
                  <a:srgbClr val="FF0000"/>
                </a:solidFill>
              </a:rPr>
              <a:t>Codificarea stărilor la nivel de bit – metoda ONE HOT </a:t>
            </a:r>
          </a:p>
          <a:p>
            <a:pPr marL="1485900" lvl="2" indent="-571500">
              <a:buFontTx/>
              <a:buChar char="-"/>
              <a:defRPr/>
            </a:pPr>
            <a:endParaRPr lang="ro-RO" sz="2800" b="1" dirty="0">
              <a:solidFill>
                <a:srgbClr val="FF0000"/>
              </a:solidFill>
            </a:endParaRP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/>
              <a:t>Codificarea stărilor la nivel de cuvânt </a:t>
            </a:r>
            <a:endParaRPr lang="en-US" sz="2800" b="1" dirty="0"/>
          </a:p>
          <a:p>
            <a:pPr lvl="2"/>
            <a:endParaRPr lang="ro-RO" sz="2400" b="1" dirty="0"/>
          </a:p>
          <a:p>
            <a:r>
              <a:rPr lang="ro-RO" sz="2400" b="1" dirty="0">
                <a:solidFill>
                  <a:srgbClr val="0000FF"/>
                </a:solidFill>
              </a:rPr>
              <a:t>- Aplicație: Sistem de control pentru un lift ce deservește o clădire cu 4 etaje</a:t>
            </a:r>
            <a:endParaRPr lang="ro-RO" sz="2400" b="1" dirty="0"/>
          </a:p>
        </p:txBody>
      </p:sp>
    </p:spTree>
    <p:extLst>
      <p:ext uri="{BB962C8B-B14F-4D97-AF65-F5344CB8AC3E}">
        <p14:creationId xmlns:p14="http://schemas.microsoft.com/office/powerpoint/2010/main" val="387588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C66DA51-186C-4D3B-8992-8208AC9C6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10109837" cy="605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19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EB4D149-1366-4F2E-90AC-A4B1E723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9509656" cy="598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85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132E58B-1FB5-4351-8F7D-D09D6579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6362680" cy="327491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A485F347-DE6E-477A-A725-0DA2DA813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234464"/>
            <a:ext cx="114014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1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132E58B-1FB5-4351-8F7D-D09D6579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6362680" cy="327491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FF4C9291-8DE5-4B17-8898-F24C068B7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74" y="1143025"/>
            <a:ext cx="2926048" cy="5610225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BECDFCAD-D29F-4EA1-B4F6-32AC05B23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3" y="1143025"/>
            <a:ext cx="2194536" cy="4694539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F955B0F7-3F82-4157-A154-5FDBC22FA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39" y="1143025"/>
            <a:ext cx="4571950" cy="563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4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68748D6B-F84B-40BF-A434-40A36027A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594391"/>
            <a:ext cx="9326778" cy="617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4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320074"/>
            <a:ext cx="111555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gendă</a:t>
            </a:r>
            <a:endParaRPr lang="ro-RO" sz="3600" b="1" dirty="0">
              <a:solidFill>
                <a:srgbClr val="0000FF"/>
              </a:solidFill>
            </a:endParaRPr>
          </a:p>
          <a:p>
            <a:pPr marL="1485900" lvl="2" indent="-571500">
              <a:buFontTx/>
              <a:buChar char="-"/>
              <a:defRPr/>
            </a:pPr>
            <a:endParaRPr lang="ro-RO" sz="2800" b="1" dirty="0"/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Utilizarea instrucțiunilor de manipulare a datelor pentru codificarea stărilor din diagrama de tranziție a stărilor: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/>
              <a:t>Codificarea stărilor la nivel de bit – metoda ONE HOT 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>
                <a:solidFill>
                  <a:srgbClr val="FF0000"/>
                </a:solidFill>
              </a:rPr>
              <a:t>Codificarea stărilor la nivel de cuvânt </a:t>
            </a:r>
            <a:endParaRPr lang="en-US" sz="2800" b="1" dirty="0">
              <a:solidFill>
                <a:srgbClr val="FF0000"/>
              </a:solidFill>
            </a:endParaRPr>
          </a:p>
          <a:p>
            <a:pPr lvl="2"/>
            <a:endParaRPr lang="ro-RO" sz="2400" b="1" dirty="0"/>
          </a:p>
        </p:txBody>
      </p:sp>
    </p:spTree>
    <p:extLst>
      <p:ext uri="{BB962C8B-B14F-4D97-AF65-F5344CB8AC3E}">
        <p14:creationId xmlns:p14="http://schemas.microsoft.com/office/powerpoint/2010/main" val="225907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243B4D1-AEB2-4CB6-9892-6A230EFF4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685830"/>
            <a:ext cx="10606924" cy="59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71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FCE3EE2E-8164-484D-B016-054CD22A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960147"/>
            <a:ext cx="9966851" cy="555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61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639E068-C3D8-4304-BAC4-D20D7DD9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051586"/>
            <a:ext cx="11912171" cy="448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6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91FC570-B197-48AD-88CC-5AA8E54E8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7283740" cy="331407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EBDCBC4A-2C24-4056-BF68-13D9015EC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051586"/>
            <a:ext cx="1142047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07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5F9F5CF1-252F-412A-BEEB-C63C4798D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80" y="544834"/>
            <a:ext cx="3867150" cy="6267450"/>
          </a:xfrm>
          <a:prstGeom prst="rect">
            <a:avLst/>
          </a:prstGeom>
        </p:spPr>
      </p:pic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91FC570-B197-48AD-88CC-5AA8E54E8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502952"/>
            <a:ext cx="7283740" cy="331407"/>
          </a:xfrm>
          <a:prstGeom prst="rect">
            <a:avLst/>
          </a:prstGeom>
        </p:spPr>
      </p:pic>
      <p:pic>
        <p:nvPicPr>
          <p:cNvPr id="33" name="Imagine 32">
            <a:extLst>
              <a:ext uri="{FF2B5EF4-FFF2-40B4-BE49-F238E27FC236}">
                <a16:creationId xmlns:a16="http://schemas.microsoft.com/office/drawing/2014/main" id="{36D6B813-97BA-4204-87DD-379DA2EBA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3" y="1143025"/>
            <a:ext cx="2194536" cy="4694539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586704D2-2BF7-49A0-B50F-085EF1FBF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30" y="1143025"/>
            <a:ext cx="3741040" cy="469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2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335343" y="137196"/>
            <a:ext cx="11070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Utilizarea instrucțiunilor de manipulare date în trecerea de la diagramă la programul </a:t>
            </a:r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Ladder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 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91FC570-B197-48AD-88CC-5AA8E54E8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7283740" cy="331407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7820038A-CA91-41BF-BF57-F274C3F78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051586"/>
            <a:ext cx="11399462" cy="209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31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320074"/>
            <a:ext cx="1115555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gendă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endParaRPr lang="ro-RO" sz="3600" b="1" dirty="0">
              <a:solidFill>
                <a:srgbClr val="0000FF"/>
              </a:solidFill>
            </a:endParaRPr>
          </a:p>
          <a:p>
            <a:pPr lvl="2">
              <a:defRPr/>
            </a:pPr>
            <a:endParaRPr lang="ro-RO" sz="2800" b="1" dirty="0"/>
          </a:p>
          <a:p>
            <a:pPr lvl="2">
              <a:defRPr/>
            </a:pPr>
            <a:endParaRPr lang="ro-RO" sz="2800" b="1" dirty="0"/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Utilizarea instrucțiunilor de manipulare a datelor pentru codificarea stărilor din diagrama de tranziție a stărilor: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/>
              <a:t>Codificarea stărilor la nivel de bit – metoda ONE HOT 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Codificarea stărilor la nivel de cuvânt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>
                <a:solidFill>
                  <a:srgbClr val="FF0000"/>
                </a:solidFill>
              </a:rPr>
              <a:t>Exemplu de implementare folosind codificarea la nivel de cuvânt  (vezi seminar)  </a:t>
            </a:r>
            <a:endParaRPr lang="en-US" sz="2800" b="1" dirty="0">
              <a:solidFill>
                <a:srgbClr val="FF0000"/>
              </a:solidFill>
            </a:endParaRPr>
          </a:p>
          <a:p>
            <a:pPr lvl="2"/>
            <a:endParaRPr lang="ro-RO" sz="2400" b="1" dirty="0"/>
          </a:p>
        </p:txBody>
      </p:sp>
    </p:spTree>
    <p:extLst>
      <p:ext uri="{BB962C8B-B14F-4D97-AF65-F5344CB8AC3E}">
        <p14:creationId xmlns:p14="http://schemas.microsoft.com/office/powerpoint/2010/main" val="1285493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184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320074"/>
            <a:ext cx="1115555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gendă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endParaRPr lang="ro-RO" sz="3600" b="1" dirty="0">
              <a:solidFill>
                <a:srgbClr val="0000FF"/>
              </a:solidFill>
            </a:endParaRPr>
          </a:p>
          <a:p>
            <a:pPr lvl="2">
              <a:defRPr/>
            </a:pPr>
            <a:endParaRPr lang="ro-RO" sz="2800" b="1" dirty="0"/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Utilizarea instrucțiunilor de manipulare a datelor pentru codificarea stărilor din diagrama de tranziție a stărilor: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Codificarea stărilor la nivel de bit – metoda ONE HOT 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Codificarea stărilor la nivel de cuvânt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8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Exemplu de implementare folosind codificarea la nivel de cuvânt  (vezi seminar)  </a:t>
            </a:r>
            <a:endParaRPr lang="en-US" sz="28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lvl="2"/>
            <a:endParaRPr lang="ro-RO" sz="2400" b="1" dirty="0">
              <a:solidFill>
                <a:srgbClr val="0000FF"/>
              </a:solidFill>
            </a:endParaRPr>
          </a:p>
          <a:p>
            <a:pPr lvl="1"/>
            <a:r>
              <a:rPr lang="ro-RO" sz="2400" b="1" dirty="0">
                <a:solidFill>
                  <a:srgbClr val="0000FF"/>
                </a:solidFill>
              </a:rPr>
              <a:t>Aplicație: Sistem de control pentru un lift ce deservește o clădire cu 4 etaje</a:t>
            </a:r>
          </a:p>
          <a:p>
            <a:pPr lvl="2"/>
            <a:endParaRPr lang="ro-RO" sz="2400" b="1" dirty="0"/>
          </a:p>
        </p:txBody>
      </p:sp>
    </p:spTree>
    <p:extLst>
      <p:ext uri="{BB962C8B-B14F-4D97-AF65-F5344CB8AC3E}">
        <p14:creationId xmlns:p14="http://schemas.microsoft.com/office/powerpoint/2010/main" val="1992720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D9A60522-71A0-411F-BCCB-C7F077FB5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68" y="594391"/>
            <a:ext cx="3640438" cy="340772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EB45289B-C461-4E32-9B5A-FD22EFE47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5" y="594391"/>
            <a:ext cx="6686550" cy="6115050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97D96ED8-1BC8-4750-991A-27C0132D06C3}"/>
              </a:ext>
            </a:extLst>
          </p:cNvPr>
          <p:cNvSpPr txBox="1"/>
          <p:nvPr/>
        </p:nvSpPr>
        <p:spPr>
          <a:xfrm>
            <a:off x="518221" y="137196"/>
            <a:ext cx="10698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3164795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ine 7">
            <a:extLst>
              <a:ext uri="{FF2B5EF4-FFF2-40B4-BE49-F238E27FC236}">
                <a16:creationId xmlns:a16="http://schemas.microsoft.com/office/drawing/2014/main" id="{31121B76-861A-4F86-A319-ED27F581E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10878896" cy="5852096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FB41DB93-3331-42F0-9D55-C44FC3D38D07}"/>
              </a:ext>
            </a:extLst>
          </p:cNvPr>
          <p:cNvSpPr txBox="1"/>
          <p:nvPr/>
        </p:nvSpPr>
        <p:spPr>
          <a:xfrm>
            <a:off x="518221" y="137196"/>
            <a:ext cx="10698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FB9D905-DF87-4A3B-9EF2-89DDC9931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777269"/>
            <a:ext cx="3640438" cy="34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16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D9A60522-71A0-411F-BCCB-C7F077FB5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3640438" cy="340772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EB45289B-C461-4E32-9B5A-FD22EFE47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36" y="228635"/>
            <a:ext cx="3669063" cy="3355468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D1C0934E-B702-4380-AD8D-7059F13BC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5" y="3703317"/>
            <a:ext cx="8696325" cy="2533650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8E63BD24-89BE-4CD5-809F-DBAD178405A8}"/>
              </a:ext>
            </a:extLst>
          </p:cNvPr>
          <p:cNvSpPr txBox="1"/>
          <p:nvPr/>
        </p:nvSpPr>
        <p:spPr>
          <a:xfrm>
            <a:off x="518221" y="137196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3825195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4013F0E-DC47-42C7-87AA-8B6E18047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37196"/>
            <a:ext cx="3649011" cy="294147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4522D062-3041-4A4B-A795-AC51DD4EE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90" y="137196"/>
            <a:ext cx="4838700" cy="659130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FEEC3DED-423B-4F48-9A80-4BA15DAE5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502952"/>
            <a:ext cx="5810250" cy="324802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3A7E1057-2283-4540-9DD7-6497222BC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43" y="3886195"/>
            <a:ext cx="5934075" cy="164782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C21600B8-A613-491E-9066-400DA3B50D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43" y="5623536"/>
            <a:ext cx="6115050" cy="1047750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D6694E9B-4384-40A3-952D-C27576BA2800}"/>
              </a:ext>
            </a:extLst>
          </p:cNvPr>
          <p:cNvSpPr txBox="1"/>
          <p:nvPr/>
        </p:nvSpPr>
        <p:spPr>
          <a:xfrm>
            <a:off x="3901464" y="0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417803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44BECCD4-881F-4D20-BEA1-DAC9E2360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502952"/>
            <a:ext cx="10746118" cy="6063452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947FC138-5618-4049-804D-83AF1805E7FE}"/>
              </a:ext>
            </a:extLst>
          </p:cNvPr>
          <p:cNvSpPr txBox="1"/>
          <p:nvPr/>
        </p:nvSpPr>
        <p:spPr>
          <a:xfrm>
            <a:off x="518221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F8447712-0B09-445E-8411-4203E71B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685830"/>
            <a:ext cx="3649011" cy="29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40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960147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75C2A175-BE26-4AE3-B1F9-EE1C67866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600220"/>
            <a:ext cx="11601450" cy="2038350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D281E097-7C76-4E4F-884D-77DDFBA87F34}"/>
              </a:ext>
            </a:extLst>
          </p:cNvPr>
          <p:cNvSpPr txBox="1"/>
          <p:nvPr/>
        </p:nvSpPr>
        <p:spPr>
          <a:xfrm>
            <a:off x="243904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3248643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960147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7E96E76E-7B85-4771-A69E-B8EE4E143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5" y="1783098"/>
            <a:ext cx="6210300" cy="433387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451DA62E-18A0-456F-A9A1-A5CBAD9DC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90" y="137196"/>
            <a:ext cx="4838700" cy="6591300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D05EB67F-5304-471F-89A8-31C5B46593DB}"/>
              </a:ext>
            </a:extLst>
          </p:cNvPr>
          <p:cNvSpPr txBox="1"/>
          <p:nvPr/>
        </p:nvSpPr>
        <p:spPr>
          <a:xfrm>
            <a:off x="243904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2379103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051586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7E96E76E-7B85-4771-A69E-B8EE4E143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3" y="1600220"/>
            <a:ext cx="5212023" cy="3748999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DDFBC8A0-356D-4BF9-B97E-BAB1C2CD5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683" y="320074"/>
            <a:ext cx="5772155" cy="6231103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6F6F8254-FB78-4F0F-B049-81B95A46BB29}"/>
              </a:ext>
            </a:extLst>
          </p:cNvPr>
          <p:cNvSpPr txBox="1"/>
          <p:nvPr/>
        </p:nvSpPr>
        <p:spPr>
          <a:xfrm>
            <a:off x="152465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1626409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02952"/>
            <a:ext cx="3649011" cy="294147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8760876A-DA29-47B5-B7EB-5DF21B01276B}"/>
              </a:ext>
            </a:extLst>
          </p:cNvPr>
          <p:cNvSpPr txBox="1"/>
          <p:nvPr/>
        </p:nvSpPr>
        <p:spPr>
          <a:xfrm>
            <a:off x="61026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D6F05F8-7DEA-4D12-9B58-B871E20BF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4" y="1234464"/>
            <a:ext cx="4846268" cy="5031103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B316319F-6825-47E5-84E9-892EDAD5E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88" y="228635"/>
            <a:ext cx="4297633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41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D03B7E19-0F29-4325-A786-4C03B1C4F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234464"/>
            <a:ext cx="11497111" cy="5212023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7FC228B3-2605-400C-AC44-AF8D2206CFAE}"/>
              </a:ext>
            </a:extLst>
          </p:cNvPr>
          <p:cNvSpPr txBox="1"/>
          <p:nvPr/>
        </p:nvSpPr>
        <p:spPr>
          <a:xfrm>
            <a:off x="152465" y="137196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2725154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502952"/>
            <a:ext cx="3649011" cy="294147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E19D57FC-5F36-4737-8D83-4EAF049D3810}"/>
              </a:ext>
            </a:extLst>
          </p:cNvPr>
          <p:cNvSpPr txBox="1"/>
          <p:nvPr/>
        </p:nvSpPr>
        <p:spPr>
          <a:xfrm>
            <a:off x="518221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8900C29-2275-4FD6-8992-2B9DC7D0E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960147"/>
            <a:ext cx="5212023" cy="57912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E6895CF6-41C1-4D8A-BFBB-735F5B26E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244" y="960147"/>
            <a:ext cx="602932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91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3649011" cy="294147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6B4E9B4C-9DEC-472E-A7D2-8284E963ADFA}"/>
              </a:ext>
            </a:extLst>
          </p:cNvPr>
          <p:cNvSpPr txBox="1"/>
          <p:nvPr/>
        </p:nvSpPr>
        <p:spPr>
          <a:xfrm>
            <a:off x="243904" y="137196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FDC3EC0-5672-4789-8B80-33A54E08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051586"/>
            <a:ext cx="4886325" cy="55435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17DBEC93-8C28-47A4-8424-24E8B285C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366" y="1051586"/>
            <a:ext cx="608647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246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62ABE309-80C7-4D68-9F8B-EEF281A0F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9428102" cy="4114755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D5CB4A77-BA33-450E-AD3C-527ADCE18745}"/>
              </a:ext>
            </a:extLst>
          </p:cNvPr>
          <p:cNvSpPr txBox="1"/>
          <p:nvPr/>
        </p:nvSpPr>
        <p:spPr>
          <a:xfrm>
            <a:off x="518221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1266189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37196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63D21B7E-6B5D-4BDC-BCD5-A690519DB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502952"/>
            <a:ext cx="10058290" cy="6217852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728A935C-D593-4819-BFDB-E2B97B3D43D0}"/>
              </a:ext>
            </a:extLst>
          </p:cNvPr>
          <p:cNvSpPr txBox="1"/>
          <p:nvPr/>
        </p:nvSpPr>
        <p:spPr>
          <a:xfrm>
            <a:off x="4541537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34819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43" y="907217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8A38B214-5221-474E-B036-751581DF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600220"/>
            <a:ext cx="7277100" cy="2209800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2272E1BA-4FCE-4CA6-8A2A-FEF888411AC9}"/>
              </a:ext>
            </a:extLst>
          </p:cNvPr>
          <p:cNvSpPr txBox="1"/>
          <p:nvPr/>
        </p:nvSpPr>
        <p:spPr>
          <a:xfrm>
            <a:off x="518221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3543200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ine 49">
            <a:extLst>
              <a:ext uri="{FF2B5EF4-FFF2-40B4-BE49-F238E27FC236}">
                <a16:creationId xmlns:a16="http://schemas.microsoft.com/office/drawing/2014/main" id="{960E9C2C-1FD3-445E-BF33-A36E347F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960147"/>
            <a:ext cx="3649011" cy="294147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36DBDF95-8D18-40D0-884D-1B4FCBE9F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3" y="1508781"/>
            <a:ext cx="9783973" cy="5120584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F30F866B-21AB-4334-BAC2-40331F493993}"/>
              </a:ext>
            </a:extLst>
          </p:cNvPr>
          <p:cNvSpPr txBox="1"/>
          <p:nvPr/>
        </p:nvSpPr>
        <p:spPr>
          <a:xfrm>
            <a:off x="518221" y="45757"/>
            <a:ext cx="5303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b="1" i="1" dirty="0">
                <a:solidFill>
                  <a:srgbClr val="FF0000"/>
                </a:solidFill>
              </a:rPr>
              <a:t>Aplicația 4: Sistem de control pentru un lift</a:t>
            </a:r>
          </a:p>
        </p:txBody>
      </p:sp>
    </p:spTree>
    <p:extLst>
      <p:ext uri="{BB962C8B-B14F-4D97-AF65-F5344CB8AC3E}">
        <p14:creationId xmlns:p14="http://schemas.microsoft.com/office/powerpoint/2010/main" val="25100019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7044</TotalTime>
  <Words>522</Words>
  <Application>Microsoft Office PowerPoint</Application>
  <PresentationFormat>Ecran lat</PresentationFormat>
  <Paragraphs>67</Paragraphs>
  <Slides>33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Tahoma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361</cp:revision>
  <dcterms:created xsi:type="dcterms:W3CDTF">2020-09-24T15:20:51Z</dcterms:created>
  <dcterms:modified xsi:type="dcterms:W3CDTF">2025-12-07T10:45:25Z</dcterms:modified>
</cp:coreProperties>
</file>