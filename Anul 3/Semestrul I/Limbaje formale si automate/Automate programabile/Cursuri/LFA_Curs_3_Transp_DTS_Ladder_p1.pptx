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0" r:id="rId2"/>
    <p:sldId id="288" r:id="rId3"/>
    <p:sldId id="476" r:id="rId4"/>
    <p:sldId id="472" r:id="rId5"/>
    <p:sldId id="477" r:id="rId6"/>
    <p:sldId id="478" r:id="rId7"/>
    <p:sldId id="479" r:id="rId8"/>
    <p:sldId id="480" r:id="rId9"/>
    <p:sldId id="473" r:id="rId10"/>
    <p:sldId id="482" r:id="rId11"/>
    <p:sldId id="499" r:id="rId12"/>
    <p:sldId id="485" r:id="rId13"/>
    <p:sldId id="486" r:id="rId14"/>
    <p:sldId id="487" r:id="rId15"/>
    <p:sldId id="470" r:id="rId16"/>
    <p:sldId id="489" r:id="rId17"/>
    <p:sldId id="490" r:id="rId18"/>
    <p:sldId id="493" r:id="rId19"/>
    <p:sldId id="494" r:id="rId20"/>
    <p:sldId id="495" r:id="rId21"/>
    <p:sldId id="496" r:id="rId22"/>
    <p:sldId id="511" r:id="rId23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9" autoAdjust="0"/>
    <p:restoredTop sz="94665" autoAdjust="0"/>
  </p:normalViewPr>
  <p:slideViewPr>
    <p:cSldViewPr>
      <p:cViewPr varScale="1">
        <p:scale>
          <a:sx n="99" d="100"/>
          <a:sy n="99" d="100"/>
        </p:scale>
        <p:origin x="174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26.10.2025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Automate Programabile</a:t>
            </a: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3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C3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3         13 Octombrie 2025             11:00 –13:00</a:t>
            </a:r>
          </a:p>
          <a:p>
            <a:pPr lvl="0"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ionel.bostan@upit.ro</a:t>
            </a:r>
          </a:p>
          <a:p>
            <a:pPr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ionel.bostan@upb.ro</a:t>
            </a:r>
            <a:endParaRPr lang="ro-RO" i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188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320074"/>
            <a:ext cx="1060692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indent="-457200">
              <a:buAutoNum type="arabicParenR"/>
            </a:pPr>
            <a:r>
              <a:rPr lang="ro-RO" sz="2400" b="1" dirty="0">
                <a:solidFill>
                  <a:srgbClr val="0000FF"/>
                </a:solidFill>
              </a:rPr>
              <a:t>Transpunerea diagramelor de tranziție a stărilor (DTS) în limbaj </a:t>
            </a:r>
            <a:r>
              <a:rPr lang="ro-RO" sz="2400" b="1" dirty="0" err="1">
                <a:solidFill>
                  <a:srgbClr val="0000FF"/>
                </a:solidFill>
              </a:rPr>
              <a:t>Ladder</a:t>
            </a:r>
            <a:r>
              <a:rPr lang="ro-RO" sz="2400" b="1" dirty="0">
                <a:solidFill>
                  <a:srgbClr val="0000FF"/>
                </a:solidFill>
              </a:rPr>
              <a:t> folosind bobine fără memorie  - (Continuare)</a:t>
            </a:r>
            <a:endParaRPr lang="en-US" sz="2400" b="1" dirty="0">
              <a:solidFill>
                <a:srgbClr val="0000FF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Expresia algebrică </a:t>
            </a:r>
            <a:r>
              <a:rPr lang="en-US" sz="2000" b="1" dirty="0"/>
              <a:t>a </a:t>
            </a:r>
            <a:r>
              <a:rPr lang="en-US" sz="2000" b="1" dirty="0" err="1"/>
              <a:t>ecua</a:t>
            </a:r>
            <a:r>
              <a:rPr lang="ro-RO" sz="2000" b="1" dirty="0"/>
              <a:t>ț</a:t>
            </a:r>
            <a:r>
              <a:rPr lang="en-US" sz="2000" b="1" dirty="0" err="1"/>
              <a:t>iilor</a:t>
            </a:r>
            <a:r>
              <a:rPr lang="en-US" sz="2000" b="1" dirty="0"/>
              <a:t> de stare</a:t>
            </a:r>
            <a:r>
              <a:rPr lang="ro-RO" sz="2000" b="1" dirty="0"/>
              <a:t> în funcție de tipul elementului de memorie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Prelucrarea expresiilor algebrice pentru a facilita implementarea în </a:t>
            </a:r>
            <a:r>
              <a:rPr lang="ro-RO" sz="2000" b="1" dirty="0" err="1"/>
              <a:t>Ladder</a:t>
            </a:r>
            <a:endParaRPr lang="ro-RO" sz="2000" b="1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Exemple de utilizare </a:t>
            </a:r>
            <a:r>
              <a:rPr lang="en-US" sz="2000" b="1" dirty="0"/>
              <a:t> </a:t>
            </a:r>
            <a:endParaRPr lang="ro-RO" sz="2000" b="1" dirty="0"/>
          </a:p>
          <a:p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2) </a:t>
            </a:r>
            <a:r>
              <a:rPr lang="ro-RO" sz="2400" b="1" dirty="0">
                <a:solidFill>
                  <a:srgbClr val="0000FF"/>
                </a:solidFill>
              </a:rPr>
              <a:t>Transpunerea diagramelor de tranziție in limbaj </a:t>
            </a:r>
            <a:r>
              <a:rPr lang="ro-RO" sz="2400" b="1" dirty="0" err="1">
                <a:solidFill>
                  <a:srgbClr val="0000FF"/>
                </a:solidFill>
              </a:rPr>
              <a:t>Ladder</a:t>
            </a:r>
            <a:r>
              <a:rPr lang="ro-RO" sz="2400" b="1" dirty="0">
                <a:solidFill>
                  <a:srgbClr val="0000FF"/>
                </a:solidFill>
              </a:rPr>
              <a:t> folosind bobine cu memorie  -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Expresia algebrică </a:t>
            </a:r>
            <a:r>
              <a:rPr lang="en-US" sz="2000" b="1" dirty="0"/>
              <a:t>a </a:t>
            </a:r>
            <a:r>
              <a:rPr lang="en-US" sz="2000" b="1" dirty="0" err="1"/>
              <a:t>ecua</a:t>
            </a:r>
            <a:r>
              <a:rPr lang="ro-RO" sz="2000" b="1" dirty="0"/>
              <a:t>ț</a:t>
            </a:r>
            <a:r>
              <a:rPr lang="en-US" sz="2000" b="1" dirty="0" err="1"/>
              <a:t>iilor</a:t>
            </a:r>
            <a:r>
              <a:rPr lang="en-US" sz="2000" b="1" dirty="0"/>
              <a:t> de stare</a:t>
            </a:r>
            <a:r>
              <a:rPr lang="ro-RO" sz="2000" b="1" dirty="0"/>
              <a:t> în funcție de tipul elementului de memorie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Exemple de utilizare </a:t>
            </a:r>
            <a:r>
              <a:rPr lang="en-US" sz="2000" b="1" dirty="0"/>
              <a:t> </a:t>
            </a:r>
            <a:endParaRPr lang="ro-RO" sz="2000" b="1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3) Metode de introducere a stării de HALT în DTS date</a:t>
            </a:r>
          </a:p>
          <a:p>
            <a:endParaRPr lang="ro-RO" sz="2400" b="1" dirty="0">
              <a:solidFill>
                <a:srgbClr val="0000FF"/>
              </a:solidFill>
              <a:latin typeface="Calibri" panose="020F0502020204030204"/>
            </a:endParaRPr>
          </a:p>
          <a:p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4) Instrucțiuni de control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60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1688030-36E8-4BB3-A2B1-CC36A56BEF23}"/>
              </a:ext>
            </a:extLst>
          </p:cNvPr>
          <p:cNvSpPr/>
          <p:nvPr/>
        </p:nvSpPr>
        <p:spPr>
          <a:xfrm>
            <a:off x="243904" y="45757"/>
            <a:ext cx="8900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Ecuații de stare – aspecte specifice 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62F737B2-CA04-420E-8E43-9C405419EBE9}"/>
              </a:ext>
            </a:extLst>
          </p:cNvPr>
          <p:cNvSpPr/>
          <p:nvPr/>
        </p:nvSpPr>
        <p:spPr>
          <a:xfrm>
            <a:off x="243904" y="685830"/>
            <a:ext cx="8138071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/>
              <a:t>Pentru </a:t>
            </a:r>
            <a:r>
              <a:rPr lang="ro-RO" b="1" dirty="0">
                <a:solidFill>
                  <a:srgbClr val="0000FF"/>
                </a:solidFill>
              </a:rPr>
              <a:t>stări</a:t>
            </a:r>
            <a:r>
              <a:rPr lang="ro-RO" b="1" dirty="0"/>
              <a:t> trebuie reținute următoarele aspecte :</a:t>
            </a:r>
          </a:p>
          <a:p>
            <a:endParaRPr lang="ro-RO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Pentru fiecare stare din diagrama de tranziție a stărilor (DTS), trebuie alocat câte un bit din memoria internă a PLC. Dacă o stare este activă, bitul asociat este trecut în unu iar dacă starea este inactivă bitul este trecut în zero logic.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Activarea unei stări </a:t>
            </a:r>
            <a:r>
              <a:rPr lang="ro-RO" b="1" dirty="0"/>
              <a:t>se face numai atunci când una dintre tranzițiile de intrare în stare respectivă devine activă (altfel spus: </a:t>
            </a:r>
            <a:r>
              <a:rPr lang="ro-RO" b="1" dirty="0">
                <a:solidFill>
                  <a:srgbClr val="0000FF"/>
                </a:solidFill>
              </a:rPr>
              <a:t>dacă avem „o cerere de intrare în stare” </a:t>
            </a:r>
            <a:r>
              <a:rPr lang="ro-RO" b="1" dirty="0"/>
              <a:t>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Dezactivare unei stări </a:t>
            </a:r>
            <a:r>
              <a:rPr lang="ro-RO" b="1" dirty="0"/>
              <a:t>se face numai atunci când una dintre tranzițiile de ieșire din stare respectivă devine activă (altfel spus: </a:t>
            </a:r>
            <a:r>
              <a:rPr lang="ro-RO" b="1" dirty="0">
                <a:solidFill>
                  <a:srgbClr val="0000FF"/>
                </a:solidFill>
              </a:rPr>
              <a:t>dacă avem „o cerere de ieșire din stare” </a:t>
            </a:r>
            <a:r>
              <a:rPr lang="ro-RO" b="1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De regulă, tranzițiile de intrare/ieșire sunt de tip impuls: aceasta înseamnă că durata activă a acestora este foarte scurtă, de ordinul milisecundelor (mai precis un ciclu </a:t>
            </a:r>
            <a:r>
              <a:rPr lang="ro-RO" b="1" dirty="0" err="1"/>
              <a:t>scan</a:t>
            </a:r>
            <a:r>
              <a:rPr lang="ro-RO" b="1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O stare trebuie menținută activă de la apariția unei cereri de activare până la apariția unei cererii de dezactivare. Acest proces este adesea referit ca automenținerea stării.</a:t>
            </a:r>
          </a:p>
          <a:p>
            <a:endParaRPr lang="ro-RO" b="1" dirty="0">
              <a:solidFill>
                <a:srgbClr val="0000FF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9EC5127D-A7E1-4216-84BE-40B20E1A4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414" y="1325903"/>
            <a:ext cx="365760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02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1688030-36E8-4BB3-A2B1-CC36A56BEF23}"/>
              </a:ext>
            </a:extLst>
          </p:cNvPr>
          <p:cNvSpPr/>
          <p:nvPr/>
        </p:nvSpPr>
        <p:spPr>
          <a:xfrm>
            <a:off x="243904" y="45757"/>
            <a:ext cx="8900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Ecuații de stare – aspecte specifice 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62F737B2-CA04-420E-8E43-9C405419EBE9}"/>
              </a:ext>
            </a:extLst>
          </p:cNvPr>
          <p:cNvSpPr/>
          <p:nvPr/>
        </p:nvSpPr>
        <p:spPr>
          <a:xfrm>
            <a:off x="335343" y="594391"/>
            <a:ext cx="10698363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/>
              <a:t>Referitor la </a:t>
            </a:r>
            <a:r>
              <a:rPr lang="ro-RO" b="1" dirty="0">
                <a:solidFill>
                  <a:srgbClr val="0000FF"/>
                </a:solidFill>
              </a:rPr>
              <a:t>ecuațiile de stare</a:t>
            </a:r>
            <a:r>
              <a:rPr lang="ro-RO" b="1" dirty="0"/>
              <a:t>, sunt de reținut următoarele aspecte :</a:t>
            </a:r>
          </a:p>
          <a:p>
            <a:endParaRPr lang="ro-RO" sz="12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Rolul ecuațiilor de stare este de face </a:t>
            </a:r>
            <a:r>
              <a:rPr lang="ro-RO" b="1" dirty="0">
                <a:solidFill>
                  <a:srgbClr val="0000FF"/>
                </a:solidFill>
              </a:rPr>
              <a:t>o permanentă reactualizare </a:t>
            </a:r>
            <a:r>
              <a:rPr lang="ro-RO" b="1" dirty="0"/>
              <a:t>a valorilor logice ce sunt depuse în celulele de memorie asociate stărilor din DTS.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ro-RO" sz="11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în ecuațiile de stare trebuie luate în calcul următoarele informații: </a:t>
            </a:r>
            <a:r>
              <a:rPr lang="ro-RO" b="1" dirty="0">
                <a:solidFill>
                  <a:srgbClr val="0000FF"/>
                </a:solidFill>
              </a:rPr>
              <a:t>valoarea curentă a stării, valoarea viitoare a stării, tranzițiile de intrare și tranzițiile de ieșire</a:t>
            </a:r>
            <a:r>
              <a:rPr lang="ro-RO" b="1" dirty="0"/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ro-RO" sz="11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Forma concretă a ecuațiilor de stare este dependentă de :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ro-RO" b="1" dirty="0"/>
              <a:t>tipul bobinelor folosite: </a:t>
            </a:r>
            <a:r>
              <a:rPr lang="ro-RO" b="1" dirty="0">
                <a:solidFill>
                  <a:srgbClr val="0000FF"/>
                </a:solidFill>
              </a:rPr>
              <a:t>bobine fără memorie </a:t>
            </a:r>
            <a:r>
              <a:rPr lang="ro-RO" b="1" dirty="0"/>
              <a:t>sau </a:t>
            </a:r>
            <a:r>
              <a:rPr lang="ro-RO" b="1" dirty="0">
                <a:solidFill>
                  <a:srgbClr val="0000FF"/>
                </a:solidFill>
              </a:rPr>
              <a:t>bobine cu memorie</a:t>
            </a:r>
            <a:r>
              <a:rPr lang="ro-RO" b="1" dirty="0"/>
              <a:t>;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ro-RO" b="1" dirty="0"/>
              <a:t>de </a:t>
            </a:r>
            <a:r>
              <a:rPr lang="ro-RO" b="1" dirty="0">
                <a:solidFill>
                  <a:srgbClr val="0000FF"/>
                </a:solidFill>
              </a:rPr>
              <a:t>comportamentul celulei de memorie în cazul apariției de cereri simultane de intrare/ieșire: </a:t>
            </a:r>
          </a:p>
          <a:p>
            <a:pPr marL="3028950" lvl="6" indent="-285750">
              <a:buFont typeface="Courier New" panose="02070309020205020404" pitchFamily="49" charset="0"/>
              <a:buChar char="o"/>
            </a:pPr>
            <a:r>
              <a:rPr lang="ro-RO" b="1" dirty="0">
                <a:solidFill>
                  <a:srgbClr val="FF0000"/>
                </a:solidFill>
              </a:rPr>
              <a:t>cu set prioritar; </a:t>
            </a:r>
          </a:p>
          <a:p>
            <a:pPr marL="3028950" lvl="6" indent="-285750">
              <a:buFont typeface="Courier New" panose="02070309020205020404" pitchFamily="49" charset="0"/>
              <a:buChar char="o"/>
            </a:pPr>
            <a:r>
              <a:rPr lang="ro-RO" b="1" dirty="0">
                <a:solidFill>
                  <a:srgbClr val="FF0000"/>
                </a:solidFill>
              </a:rPr>
              <a:t>cu </a:t>
            </a:r>
            <a:r>
              <a:rPr lang="ro-RO" b="1" dirty="0" err="1">
                <a:solidFill>
                  <a:srgbClr val="FF0000"/>
                </a:solidFill>
              </a:rPr>
              <a:t>reset</a:t>
            </a:r>
            <a:r>
              <a:rPr lang="ro-RO" b="1" dirty="0">
                <a:solidFill>
                  <a:srgbClr val="FF0000"/>
                </a:solidFill>
              </a:rPr>
              <a:t> prioritar; </a:t>
            </a:r>
          </a:p>
          <a:p>
            <a:pPr marL="3028950" lvl="6" indent="-285750">
              <a:buFont typeface="Courier New" panose="02070309020205020404" pitchFamily="49" charset="0"/>
              <a:buChar char="o"/>
            </a:pPr>
            <a:r>
              <a:rPr lang="ro-RO" b="1" dirty="0">
                <a:solidFill>
                  <a:srgbClr val="FF0000"/>
                </a:solidFill>
              </a:rPr>
              <a:t>comenzi simultane de set/</a:t>
            </a:r>
            <a:r>
              <a:rPr lang="ro-RO" b="1" dirty="0" err="1">
                <a:solidFill>
                  <a:srgbClr val="FF0000"/>
                </a:solidFill>
              </a:rPr>
              <a:t>reset</a:t>
            </a:r>
            <a:r>
              <a:rPr lang="ro-RO" b="1" dirty="0">
                <a:solidFill>
                  <a:srgbClr val="FF0000"/>
                </a:solidFill>
              </a:rPr>
              <a:t> nu apar;</a:t>
            </a:r>
          </a:p>
          <a:p>
            <a:pPr marL="3028950" lvl="6" indent="-285750">
              <a:buFont typeface="Courier New" panose="02070309020205020404" pitchFamily="49" charset="0"/>
              <a:buChar char="o"/>
            </a:pPr>
            <a:endParaRPr lang="ro-RO" sz="11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În cele urmează folosim următoarele notații: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C7C7CFD6-3179-4222-A06A-5C8B60C7A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513" y="4983463"/>
            <a:ext cx="7402350" cy="17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6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1688030-36E8-4BB3-A2B1-CC36A56BEF23}"/>
              </a:ext>
            </a:extLst>
          </p:cNvPr>
          <p:cNvSpPr/>
          <p:nvPr/>
        </p:nvSpPr>
        <p:spPr>
          <a:xfrm>
            <a:off x="243904" y="45757"/>
            <a:ext cx="8900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Expresia algebrică a ecuațiilor de stare în cazul lucrului cu bobine fără memorie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62F737B2-CA04-420E-8E43-9C405419EBE9}"/>
              </a:ext>
            </a:extLst>
          </p:cNvPr>
          <p:cNvSpPr/>
          <p:nvPr/>
        </p:nvSpPr>
        <p:spPr>
          <a:xfrm>
            <a:off x="335343" y="411513"/>
            <a:ext cx="11338436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Cazul 1: Starea este memorată într-un element de memorie cu RESET prioritar </a:t>
            </a:r>
          </a:p>
          <a:p>
            <a:endParaRPr lang="ro-RO" sz="900" b="1" dirty="0">
              <a:solidFill>
                <a:srgbClr val="FF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în cazul unei cereri simultane de intrare / ieșire din stare, este favorizată cererea de dezactivare a stării 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ro-RO" sz="11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Tabelul de adevăr și ecuația algebrică pentru acest element de memorie este prezentat mai jos:  </a:t>
            </a:r>
          </a:p>
        </p:txBody>
      </p:sp>
      <p:pic>
        <p:nvPicPr>
          <p:cNvPr id="11" name="Imagine 10">
            <a:extLst>
              <a:ext uri="{FF2B5EF4-FFF2-40B4-BE49-F238E27FC236}">
                <a16:creationId xmlns:a16="http://schemas.microsoft.com/office/drawing/2014/main" id="{745E6680-FCBC-4EB5-931B-8162C0A2B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463" y="4526268"/>
            <a:ext cx="2552700" cy="67627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FCD480AB-39AA-43AC-B26C-A11E62F71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902" y="1691659"/>
            <a:ext cx="3419475" cy="26670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49511795-8321-40C7-97AE-703F8F8A2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21" y="1691659"/>
            <a:ext cx="6896045" cy="509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74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1688030-36E8-4BB3-A2B1-CC36A56BEF23}"/>
              </a:ext>
            </a:extLst>
          </p:cNvPr>
          <p:cNvSpPr/>
          <p:nvPr/>
        </p:nvSpPr>
        <p:spPr>
          <a:xfrm>
            <a:off x="243904" y="45757"/>
            <a:ext cx="8900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Expresia algebrică a ecuațiilor de stare în cazul lucrului cu bobine fără memorie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62F737B2-CA04-420E-8E43-9C405419EBE9}"/>
              </a:ext>
            </a:extLst>
          </p:cNvPr>
          <p:cNvSpPr/>
          <p:nvPr/>
        </p:nvSpPr>
        <p:spPr>
          <a:xfrm>
            <a:off x="335343" y="411513"/>
            <a:ext cx="11338436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Cazul 2: Starea este memorată într-un element de memorie cu SET prioritar </a:t>
            </a:r>
          </a:p>
          <a:p>
            <a:endParaRPr lang="ro-RO" sz="900" b="1" dirty="0">
              <a:solidFill>
                <a:srgbClr val="FF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în cazul unei cereri simultane de intrare / ieșire din stare, este favorizată cererea de activare a stării 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ro-RO" sz="11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Tabelul de adevăr și ecuația algebrică pentru acest element de memorie este prezentat mai jos: 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8AA1B8C-9389-4BF0-B99E-0C369193C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46" y="1783098"/>
            <a:ext cx="3638550" cy="283845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9931FF96-0620-45CF-94F0-B0D73F261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38" y="1783098"/>
            <a:ext cx="63722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189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1688030-36E8-4BB3-A2B1-CC36A56BEF23}"/>
              </a:ext>
            </a:extLst>
          </p:cNvPr>
          <p:cNvSpPr/>
          <p:nvPr/>
        </p:nvSpPr>
        <p:spPr>
          <a:xfrm>
            <a:off x="243904" y="45757"/>
            <a:ext cx="8900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Expresia algebrică a ecuațiilor de stare în cazul lucrului cu bobine fără memorie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62F737B2-CA04-420E-8E43-9C405419EBE9}"/>
              </a:ext>
            </a:extLst>
          </p:cNvPr>
          <p:cNvSpPr/>
          <p:nvPr/>
        </p:nvSpPr>
        <p:spPr>
          <a:xfrm>
            <a:off x="335343" y="411513"/>
            <a:ext cx="11338436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Cazul 3: Comenzi simultane de SET/RESET nu apar </a:t>
            </a:r>
          </a:p>
          <a:p>
            <a:endParaRPr lang="ro-RO" sz="900" b="1" dirty="0">
              <a:solidFill>
                <a:srgbClr val="FF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în cazul unei cereri simultane de intrare / ieșire din stare, starea celulei de memorie nu se modifică;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ro-RO" sz="11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Tabelul de adevăr și ecuația algebrică pentru acest element de memorie este prezentat mai jos:  </a:t>
            </a:r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A7F4725A-5D19-4433-B725-73E73F1A2093}"/>
              </a:ext>
            </a:extLst>
          </p:cNvPr>
          <p:cNvSpPr/>
          <p:nvPr/>
        </p:nvSpPr>
        <p:spPr>
          <a:xfrm>
            <a:off x="6278878" y="1874537"/>
            <a:ext cx="53949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o-RO" b="1" dirty="0"/>
              <a:t>Cele două valori </a:t>
            </a:r>
            <a:r>
              <a:rPr lang="ro-RO" b="1" i="1" dirty="0"/>
              <a:t>don</a:t>
            </a:r>
            <a:r>
              <a:rPr lang="en-US" b="1" i="1" dirty="0"/>
              <a:t>’</a:t>
            </a:r>
            <a:r>
              <a:rPr lang="ro-RO" b="1" i="1" dirty="0"/>
              <a:t>t care </a:t>
            </a:r>
            <a:r>
              <a:rPr lang="ro-RO" b="1" dirty="0"/>
              <a:t>se pot înlocui cu valoarea 1 și obținem tabelul valabil la elementul de memorie cu SET prioritar;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B576A272-2EAD-4D12-876D-90264A18D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12" y="2971805"/>
            <a:ext cx="3648075" cy="286702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62604A69-CBA3-4B02-B300-B1A49FDE9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0" y="1874537"/>
            <a:ext cx="60388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35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1688030-36E8-4BB3-A2B1-CC36A56BEF23}"/>
              </a:ext>
            </a:extLst>
          </p:cNvPr>
          <p:cNvSpPr/>
          <p:nvPr/>
        </p:nvSpPr>
        <p:spPr>
          <a:xfrm>
            <a:off x="243904" y="45757"/>
            <a:ext cx="8900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Expresia algebrică a ecuațiilor de stare în cazul lucrului cu bobine fără memorie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62F737B2-CA04-420E-8E43-9C405419EBE9}"/>
              </a:ext>
            </a:extLst>
          </p:cNvPr>
          <p:cNvSpPr/>
          <p:nvPr/>
        </p:nvSpPr>
        <p:spPr>
          <a:xfrm>
            <a:off x="335343" y="502952"/>
            <a:ext cx="11338436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Concluzie: </a:t>
            </a:r>
          </a:p>
          <a:p>
            <a:endParaRPr lang="ro-RO" sz="900" b="1" dirty="0">
              <a:solidFill>
                <a:srgbClr val="FF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De regulă, tranzițiile de intrare/ieșire sunt de tip impuls: aceasta înseamnă că durata activă a acestora este foarte scurtă, de ordinul milisecundelor (mai precis un ciclu </a:t>
            </a:r>
            <a:r>
              <a:rPr lang="ro-RO" b="1" dirty="0" err="1"/>
              <a:t>scan</a:t>
            </a:r>
            <a:r>
              <a:rPr lang="ro-RO" b="1" dirty="0"/>
              <a:t>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ro-RO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Pentru modul nostru de a scrie ecuațiile tranzițiilor se poate vedea că elementul de memorie folosit pentru memorarea unei stări nu va primii niciodată o comandă simultană de activare/dezactivare 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ro-RO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Din cele de mai sus tragem concluzia că, pentru orice stare, se poate folosi oricare din ecuațiile prezentate mai jos:</a:t>
            </a:r>
          </a:p>
        </p:txBody>
      </p:sp>
      <p:pic>
        <p:nvPicPr>
          <p:cNvPr id="11" name="Imagine 10">
            <a:extLst>
              <a:ext uri="{FF2B5EF4-FFF2-40B4-BE49-F238E27FC236}">
                <a16:creationId xmlns:a16="http://schemas.microsoft.com/office/drawing/2014/main" id="{B04FEB17-AC89-43E9-9B48-BA25BDB42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489" y="3429000"/>
            <a:ext cx="101441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99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1688030-36E8-4BB3-A2B1-CC36A56BEF23}"/>
              </a:ext>
            </a:extLst>
          </p:cNvPr>
          <p:cNvSpPr/>
          <p:nvPr/>
        </p:nvSpPr>
        <p:spPr>
          <a:xfrm>
            <a:off x="243904" y="45757"/>
            <a:ext cx="107898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Prelucrarea ecuațiilor de stare pentru implementarea lor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, folosind bobine fără memorie</a:t>
            </a:r>
          </a:p>
          <a:p>
            <a:r>
              <a:rPr lang="ro-RO" b="1" dirty="0">
                <a:solidFill>
                  <a:srgbClr val="0000FF"/>
                </a:solidFill>
              </a:rPr>
              <a:t> </a:t>
            </a:r>
          </a:p>
          <a:p>
            <a:r>
              <a:rPr lang="ro-RO" b="1" dirty="0">
                <a:solidFill>
                  <a:srgbClr val="FF0000"/>
                </a:solidFill>
              </a:rPr>
              <a:t>Cazul 1: Ecuația de stare cu RESET prioritar – </a:t>
            </a:r>
            <a:r>
              <a:rPr lang="ro-RO" b="1" dirty="0"/>
              <a:t>există 3 posibilități de transpunere în limbaj </a:t>
            </a:r>
            <a:r>
              <a:rPr lang="ro-RO" b="1" dirty="0" err="1"/>
              <a:t>Ladder</a:t>
            </a:r>
            <a:endParaRPr lang="ro-RO" b="1" dirty="0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F161BBF-F639-4BD4-922E-D28F816BE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11515132" cy="524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60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1688030-36E8-4BB3-A2B1-CC36A56BEF23}"/>
              </a:ext>
            </a:extLst>
          </p:cNvPr>
          <p:cNvSpPr/>
          <p:nvPr/>
        </p:nvSpPr>
        <p:spPr>
          <a:xfrm>
            <a:off x="243903" y="45757"/>
            <a:ext cx="112469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Prelucrarea ecuațiilor de stare pentru implementarea lor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, folosind bobine fără memorie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b="1" dirty="0">
                <a:solidFill>
                  <a:srgbClr val="FF0000"/>
                </a:solidFill>
              </a:rPr>
              <a:t>Cazul 2/3: Ecuația de stare cu (SET prioritar)/ (lipsa comenzilor simultane) – </a:t>
            </a:r>
            <a:r>
              <a:rPr lang="ro-RO" b="1" dirty="0"/>
              <a:t>avem 2 posibilități de implementare </a:t>
            </a:r>
            <a:endParaRPr lang="en-US" b="1" dirty="0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9B62A2CF-581B-436D-865F-25A6041BB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94" y="960147"/>
            <a:ext cx="9629775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387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2F1A29C6-261B-45DF-B6A1-33EFC7FDE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823912"/>
            <a:ext cx="95250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59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1688030-36E8-4BB3-A2B1-CC36A56BEF23}"/>
              </a:ext>
            </a:extLst>
          </p:cNvPr>
          <p:cNvSpPr/>
          <p:nvPr/>
        </p:nvSpPr>
        <p:spPr>
          <a:xfrm>
            <a:off x="243903" y="45757"/>
            <a:ext cx="110641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fără memorie</a:t>
            </a:r>
          </a:p>
          <a:p>
            <a:r>
              <a:rPr lang="ro-RO" b="1" dirty="0">
                <a:solidFill>
                  <a:srgbClr val="0000FF"/>
                </a:solidFill>
              </a:rPr>
              <a:t> </a:t>
            </a:r>
          </a:p>
          <a:p>
            <a:r>
              <a:rPr lang="ro-RO" b="1" dirty="0">
                <a:solidFill>
                  <a:srgbClr val="FF0000"/>
                </a:solidFill>
              </a:rPr>
              <a:t>Cazul 1: Ecuația de stare cu RESET prioritar </a:t>
            </a:r>
            <a:r>
              <a:rPr lang="ro-RO" b="1" dirty="0"/>
              <a:t>– Exemplu de transpunere în </a:t>
            </a:r>
            <a:r>
              <a:rPr lang="ro-RO" b="1" dirty="0" err="1"/>
              <a:t>Ladder</a:t>
            </a:r>
            <a:r>
              <a:rPr lang="ro-RO" b="1" dirty="0"/>
              <a:t> 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AD9459BD-B7EF-4960-93D4-E8BCE2C7F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903" y="1051586"/>
            <a:ext cx="3840438" cy="2224253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0DE4548D-612D-494A-855B-0C53E7F3C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903" y="3429000"/>
            <a:ext cx="3813658" cy="3017487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D0FAE7E5-F782-40E1-8C27-81EA5FDF1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219" y="3429000"/>
            <a:ext cx="4000982" cy="2966086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F5303694-D9A2-4623-BD2E-33CF57C00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6" y="1051586"/>
            <a:ext cx="365760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27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1688030-36E8-4BB3-A2B1-CC36A56BEF23}"/>
              </a:ext>
            </a:extLst>
          </p:cNvPr>
          <p:cNvSpPr/>
          <p:nvPr/>
        </p:nvSpPr>
        <p:spPr>
          <a:xfrm>
            <a:off x="243904" y="45757"/>
            <a:ext cx="89000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Modalități de implementare a ecuațiilor de stare în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, folosind bobine fără memorie</a:t>
            </a:r>
          </a:p>
          <a:p>
            <a:r>
              <a:rPr lang="ro-RO" b="1" dirty="0">
                <a:solidFill>
                  <a:srgbClr val="0000FF"/>
                </a:solidFill>
              </a:rPr>
              <a:t> </a:t>
            </a:r>
          </a:p>
          <a:p>
            <a:r>
              <a:rPr lang="ro-RO" b="1" dirty="0">
                <a:solidFill>
                  <a:srgbClr val="FF0000"/>
                </a:solidFill>
              </a:rPr>
              <a:t>Cazul 2 + Cazul 3: Ecuația de stare cu SET prioritar </a:t>
            </a:r>
            <a:r>
              <a:rPr lang="ro-RO" b="1" dirty="0"/>
              <a:t>– Exemplu de transpunere în </a:t>
            </a:r>
            <a:r>
              <a:rPr lang="ro-RO" b="1" dirty="0" err="1"/>
              <a:t>Ladder</a:t>
            </a:r>
            <a:r>
              <a:rPr lang="ro-RO" b="1" dirty="0"/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23A30C09-6312-4ABB-99C3-93EF46F87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325903"/>
            <a:ext cx="4181475" cy="45243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C75B4C2A-2B69-48AE-BC9C-69A4C8C4C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8" y="3977634"/>
            <a:ext cx="4287236" cy="280634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CC40883D-FC9C-4BF6-B67A-38F3320EA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488" y="960147"/>
            <a:ext cx="4288163" cy="284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56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1688030-36E8-4BB3-A2B1-CC36A56BEF23}"/>
              </a:ext>
            </a:extLst>
          </p:cNvPr>
          <p:cNvSpPr/>
          <p:nvPr/>
        </p:nvSpPr>
        <p:spPr>
          <a:xfrm>
            <a:off x="243904" y="45757"/>
            <a:ext cx="8900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fără memorie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62F737B2-CA04-420E-8E43-9C405419EBE9}"/>
              </a:ext>
            </a:extLst>
          </p:cNvPr>
          <p:cNvSpPr/>
          <p:nvPr/>
        </p:nvSpPr>
        <p:spPr>
          <a:xfrm>
            <a:off x="335343" y="502952"/>
            <a:ext cx="11338436" cy="6270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Concluzii : </a:t>
            </a:r>
          </a:p>
          <a:p>
            <a:endParaRPr lang="ro-RO" sz="900" b="1" dirty="0">
              <a:solidFill>
                <a:srgbClr val="FF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Pentru modul nostru de a scrie ecuațiile tranzițiilor se poate vedea că elementul de memorie folosit pentru memorarea unei stări nu va primii niciodată o comandă simultană de activare/dezactivare 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ro-RO" sz="9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Pentru fiecare stare din diagrama de tranziție a stărilor (DTS):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ro-RO" b="1" dirty="0"/>
              <a:t>putem avea </a:t>
            </a:r>
            <a:r>
              <a:rPr lang="ro-RO" b="1" dirty="0">
                <a:solidFill>
                  <a:srgbClr val="0000FF"/>
                </a:solidFill>
              </a:rPr>
              <a:t>5 implementări echivalente </a:t>
            </a:r>
            <a:r>
              <a:rPr lang="ro-RO" b="1" dirty="0"/>
              <a:t>în limbaj </a:t>
            </a:r>
            <a:r>
              <a:rPr lang="ro-RO" b="1" dirty="0" err="1"/>
              <a:t>Ladder</a:t>
            </a:r>
            <a:r>
              <a:rPr lang="ro-RO" b="1" dirty="0"/>
              <a:t>;  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Activarea stării</a:t>
            </a:r>
            <a:r>
              <a:rPr lang="ro-RO" b="1" dirty="0"/>
              <a:t> se face numai și numai pe baza tranzițiilor de intrare în respectiva stare;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Dezactivarea stării </a:t>
            </a:r>
            <a:r>
              <a:rPr lang="ro-RO" b="1" dirty="0"/>
              <a:t>se face ținând cont de relația de implementare folosită: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ro-RO" b="1" dirty="0"/>
              <a:t>pentru relația (1) – folosim </a:t>
            </a:r>
            <a:r>
              <a:rPr lang="ro-RO" b="1" dirty="0">
                <a:solidFill>
                  <a:srgbClr val="FF0000"/>
                </a:solidFill>
              </a:rPr>
              <a:t>numai tranzițiile de ieșire </a:t>
            </a:r>
            <a:r>
              <a:rPr lang="ro-RO" b="1" dirty="0"/>
              <a:t>din stare;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ro-RO" b="1" dirty="0"/>
              <a:t>pentru relațiile (2) și (3) – folosim </a:t>
            </a:r>
            <a:r>
              <a:rPr lang="ro-RO" b="1" dirty="0">
                <a:solidFill>
                  <a:srgbClr val="FF0000"/>
                </a:solidFill>
              </a:rPr>
              <a:t>numai variabilele de ieșire din stare </a:t>
            </a:r>
            <a:r>
              <a:rPr lang="ro-RO" b="1" dirty="0"/>
              <a:t>și nu avem voie să folosim tranzițiile de ieșire;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ro-RO" b="1" dirty="0"/>
              <a:t>pentru relațiile (4) și (5) – folosim </a:t>
            </a:r>
            <a:r>
              <a:rPr lang="ro-RO" b="1" dirty="0">
                <a:solidFill>
                  <a:srgbClr val="FF0000"/>
                </a:solidFill>
              </a:rPr>
              <a:t>fie variabilele de ieșire fie tranzițiile de ieșire</a:t>
            </a:r>
            <a:r>
              <a:rPr lang="ro-RO" b="1" dirty="0"/>
              <a:t>;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endParaRPr lang="ro-RO" sz="10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Pentru partea de inițializare a stărilor din DTS: 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ro-RO" b="1" dirty="0"/>
              <a:t>FS joacă rol de tranziție de intrare în starea de pornire (de regulă notată cu St0);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ro-RO" b="1" dirty="0"/>
              <a:t>FS joacă rol de tranziție/variabilă de ieșire pentru restul stărilor din diagramă;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endParaRPr lang="ro-RO" sz="10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Atenție! </a:t>
            </a:r>
            <a:r>
              <a:rPr lang="ro-RO" b="1" dirty="0"/>
              <a:t>Uneori putem avea tranziții pe care se testează condiții compuse și nu o singură variabilă. Condițiile compuse sunt exprimate prin expresii logice în care intervin 2 sau mai multe variabile.   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ro-RO" b="1" dirty="0"/>
              <a:t>în toate relațiile anterioare acolo unde apărea o variabilă de ieșire negată, aceasta trebuie înlocuită cu forma negată a condiției compuse testate;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ro-RO" b="1" dirty="0"/>
              <a:t>determinarea formei negate a condiției compuse se face prin aplicarea teoremelor lui </a:t>
            </a:r>
            <a:r>
              <a:rPr lang="ro-RO" b="1" dirty="0" err="1"/>
              <a:t>DeMorgan</a:t>
            </a:r>
            <a:r>
              <a:rPr lang="ro-RO" b="1" dirty="0"/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1000565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9535B7E1-DEB4-473B-8EB5-4FAA2193D594}"/>
              </a:ext>
            </a:extLst>
          </p:cNvPr>
          <p:cNvSpPr/>
          <p:nvPr/>
        </p:nvSpPr>
        <p:spPr>
          <a:xfrm>
            <a:off x="243904" y="137196"/>
            <a:ext cx="110641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fără memorie </a:t>
            </a:r>
            <a:r>
              <a:rPr lang="ro-RO" b="1" dirty="0">
                <a:solidFill>
                  <a:srgbClr val="FF0000"/>
                </a:solidFill>
              </a:rPr>
              <a:t>– Cazul testării condițiilor compuse</a:t>
            </a:r>
          </a:p>
          <a:p>
            <a:endParaRPr lang="ro-RO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ro-RO" b="1" dirty="0"/>
              <a:t>Același comportament intrare/ieșire se poate obține cu diagrame de tranziție diferite ca structură;</a:t>
            </a:r>
          </a:p>
          <a:p>
            <a:pPr marL="285750" indent="-285750">
              <a:buFontTx/>
              <a:buChar char="-"/>
            </a:pPr>
            <a:endParaRPr lang="ro-RO" b="1" dirty="0"/>
          </a:p>
          <a:p>
            <a:pPr marL="285750" indent="-285750">
              <a:buFontTx/>
              <a:buChar char="-"/>
            </a:pPr>
            <a:r>
              <a:rPr lang="ro-RO" b="1" dirty="0"/>
              <a:t>Pentru ușa de garaj putem folosi oricare din diagramele de tranziție de mai jos; </a:t>
            </a:r>
          </a:p>
          <a:p>
            <a:pPr marL="285750" indent="-285750">
              <a:buFontTx/>
              <a:buChar char="-"/>
            </a:pPr>
            <a:endParaRPr lang="ro-RO" b="1" dirty="0"/>
          </a:p>
          <a:p>
            <a:pPr marL="285750" indent="-285750">
              <a:buFontTx/>
              <a:buChar char="-"/>
            </a:pPr>
            <a:r>
              <a:rPr lang="ro-RO" b="1" dirty="0"/>
              <a:t>Pentru diagrama din stânga se vede că tranzițiile T13 și T14  testează condiții compuse (nu se testează doar o singură variabilă de intrare);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C6573E4F-1472-4ECE-9DFD-0E95E5D67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2514610"/>
            <a:ext cx="1011555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13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9535B7E1-DEB4-473B-8EB5-4FAA2193D594}"/>
              </a:ext>
            </a:extLst>
          </p:cNvPr>
          <p:cNvSpPr/>
          <p:nvPr/>
        </p:nvSpPr>
        <p:spPr>
          <a:xfrm>
            <a:off x="243904" y="137196"/>
            <a:ext cx="1142987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fără memorie </a:t>
            </a:r>
            <a:r>
              <a:rPr lang="ro-RO" b="1" dirty="0">
                <a:solidFill>
                  <a:srgbClr val="FF0000"/>
                </a:solidFill>
              </a:rPr>
              <a:t>– Cazul testării condițiilor compuse</a:t>
            </a:r>
          </a:p>
          <a:p>
            <a:endParaRPr lang="ro-RO" sz="1200" b="1" dirty="0">
              <a:solidFill>
                <a:srgbClr val="FF0000"/>
              </a:solidFill>
            </a:endParaRPr>
          </a:p>
          <a:p>
            <a:pPr marL="342900" indent="-342900">
              <a:buAutoNum type="alphaLcParenR"/>
            </a:pPr>
            <a:r>
              <a:rPr lang="ro-RO" b="1" dirty="0"/>
              <a:t>Implementarea tranzițiilor </a:t>
            </a:r>
          </a:p>
          <a:p>
            <a:r>
              <a:rPr lang="ro-RO" b="1" dirty="0"/>
              <a:t> 	- ecuațiile tranzițiilor nu sunt influențate de tipul de element de memorie folosit; </a:t>
            </a:r>
          </a:p>
          <a:p>
            <a:r>
              <a:rPr lang="ro-RO" b="1" dirty="0"/>
              <a:t>	- ecuațiile tranzițiilor sunt scrise ca un produs între starea din care pleacă tranziția și </a:t>
            </a:r>
          </a:p>
          <a:p>
            <a:r>
              <a:rPr lang="ro-RO" b="1" dirty="0"/>
              <a:t>	  condiția testată pe acea tranziție;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4606EBD7-2559-45BC-903F-E56D20FCB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1965976"/>
            <a:ext cx="6324600" cy="288607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965FC39F-1174-47F9-AF3B-267FABB2D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902" y="1600220"/>
            <a:ext cx="3400425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23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9535B7E1-DEB4-473B-8EB5-4FAA2193D594}"/>
              </a:ext>
            </a:extLst>
          </p:cNvPr>
          <p:cNvSpPr/>
          <p:nvPr/>
        </p:nvSpPr>
        <p:spPr>
          <a:xfrm>
            <a:off x="243904" y="137196"/>
            <a:ext cx="110641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fără memorie </a:t>
            </a:r>
            <a:r>
              <a:rPr lang="ro-RO" b="1" dirty="0">
                <a:solidFill>
                  <a:srgbClr val="FF0000"/>
                </a:solidFill>
              </a:rPr>
              <a:t>– Cazul testării condițiilor compuse</a:t>
            </a:r>
          </a:p>
          <a:p>
            <a:endParaRPr lang="ro-RO" b="1" dirty="0">
              <a:solidFill>
                <a:srgbClr val="FF0000"/>
              </a:solidFill>
            </a:endParaRPr>
          </a:p>
          <a:p>
            <a:r>
              <a:rPr lang="ro-RO" b="1" dirty="0"/>
              <a:t>b) Implementarea ecuațiilor de stare folosind </a:t>
            </a:r>
            <a:r>
              <a:rPr lang="ro-RO" b="1" dirty="0">
                <a:solidFill>
                  <a:srgbClr val="FF0000"/>
                </a:solidFill>
              </a:rPr>
              <a:t>relația (1) 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4606EBD7-2559-45BC-903F-E56D20FCB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2148854"/>
            <a:ext cx="6324600" cy="2886075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A3A5FB9E-33FB-40C4-BA2F-9F980995F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707" y="685830"/>
            <a:ext cx="4255459" cy="5948402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E0D02014-5B4B-409F-9A6A-18890EF8B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82" y="1417342"/>
            <a:ext cx="2333625" cy="590550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AE04D58E-DDE7-407C-979C-5C9D5A2932C1}"/>
              </a:ext>
            </a:extLst>
          </p:cNvPr>
          <p:cNvSpPr/>
          <p:nvPr/>
        </p:nvSpPr>
        <p:spPr>
          <a:xfrm>
            <a:off x="426782" y="5166341"/>
            <a:ext cx="614431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Atenție la modul în care este poziționat bitul de </a:t>
            </a:r>
            <a:r>
              <a:rPr lang="ro-RO" b="1" dirty="0" err="1">
                <a:solidFill>
                  <a:srgbClr val="0000FF"/>
                </a:solidFill>
              </a:rPr>
              <a:t>First</a:t>
            </a:r>
            <a:r>
              <a:rPr lang="ro-RO" b="1" dirty="0">
                <a:solidFill>
                  <a:srgbClr val="0000FF"/>
                </a:solidFill>
              </a:rPr>
              <a:t> </a:t>
            </a:r>
            <a:r>
              <a:rPr lang="ro-RO" b="1" dirty="0" err="1">
                <a:solidFill>
                  <a:srgbClr val="0000FF"/>
                </a:solidFill>
              </a:rPr>
              <a:t>Scan</a:t>
            </a:r>
            <a:r>
              <a:rPr lang="ro-RO" b="1" dirty="0">
                <a:solidFill>
                  <a:srgbClr val="0000FF"/>
                </a:solidFill>
              </a:rPr>
              <a:t> (FS):</a:t>
            </a:r>
          </a:p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0000FF"/>
                </a:solidFill>
              </a:rPr>
              <a:t>ca tranziție de intrare pentru starea de pornire ST_A;</a:t>
            </a:r>
          </a:p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0000FF"/>
                </a:solidFill>
              </a:rPr>
              <a:t>ca tranziție de ieșire pentru restul stărilor;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81114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9535B7E1-DEB4-473B-8EB5-4FAA2193D594}"/>
              </a:ext>
            </a:extLst>
          </p:cNvPr>
          <p:cNvSpPr/>
          <p:nvPr/>
        </p:nvSpPr>
        <p:spPr>
          <a:xfrm>
            <a:off x="243904" y="137196"/>
            <a:ext cx="110641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fără memorie </a:t>
            </a:r>
            <a:r>
              <a:rPr lang="ro-RO" b="1" dirty="0">
                <a:solidFill>
                  <a:srgbClr val="FF0000"/>
                </a:solidFill>
              </a:rPr>
              <a:t>– Cazul testării condițiilor compuse</a:t>
            </a:r>
          </a:p>
          <a:p>
            <a:endParaRPr lang="ro-RO" b="1" dirty="0">
              <a:solidFill>
                <a:srgbClr val="FF0000"/>
              </a:solidFill>
            </a:endParaRPr>
          </a:p>
          <a:p>
            <a:r>
              <a:rPr lang="ro-RO" b="1" dirty="0"/>
              <a:t>b) Implementarea ecuațiilor de stare folosind </a:t>
            </a:r>
            <a:r>
              <a:rPr lang="ro-RO" b="1" dirty="0">
                <a:solidFill>
                  <a:srgbClr val="FF0000"/>
                </a:solidFill>
              </a:rPr>
              <a:t>relația (2) 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9BB1DE7F-1FC3-4B1D-B6B0-404CA587F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234464"/>
            <a:ext cx="3370180" cy="693861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F5A293C7-9AB2-4D6A-A124-9D0BA7E05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965976"/>
            <a:ext cx="5723006" cy="3657560"/>
          </a:xfrm>
          <a:prstGeom prst="rect">
            <a:avLst/>
          </a:prstGeom>
        </p:spPr>
      </p:pic>
      <p:pic>
        <p:nvPicPr>
          <p:cNvPr id="11" name="Imagine 10">
            <a:extLst>
              <a:ext uri="{FF2B5EF4-FFF2-40B4-BE49-F238E27FC236}">
                <a16:creationId xmlns:a16="http://schemas.microsoft.com/office/drawing/2014/main" id="{52C501DA-2CB5-48D2-B02A-46BB6301C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390" y="594391"/>
            <a:ext cx="3967502" cy="6099816"/>
          </a:xfrm>
          <a:prstGeom prst="rect">
            <a:avLst/>
          </a:prstGeom>
        </p:spPr>
      </p:pic>
      <p:sp>
        <p:nvSpPr>
          <p:cNvPr id="7" name="Dreptunghi 6">
            <a:extLst>
              <a:ext uri="{FF2B5EF4-FFF2-40B4-BE49-F238E27FC236}">
                <a16:creationId xmlns:a16="http://schemas.microsoft.com/office/drawing/2014/main" id="{3D06B02D-B51D-4F05-BC34-908DA3E1D995}"/>
              </a:ext>
            </a:extLst>
          </p:cNvPr>
          <p:cNvSpPr/>
          <p:nvPr/>
        </p:nvSpPr>
        <p:spPr>
          <a:xfrm>
            <a:off x="335343" y="5806414"/>
            <a:ext cx="614431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Atenție la modul în care este poziționat bitul de </a:t>
            </a:r>
            <a:r>
              <a:rPr lang="ro-RO" b="1" i="1" dirty="0" err="1">
                <a:solidFill>
                  <a:srgbClr val="0000FF"/>
                </a:solidFill>
              </a:rPr>
              <a:t>First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r>
              <a:rPr lang="ro-RO" b="1" i="1" dirty="0" err="1">
                <a:solidFill>
                  <a:srgbClr val="0000FF"/>
                </a:solidFill>
              </a:rPr>
              <a:t>Scan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r>
              <a:rPr lang="ro-RO" b="1" dirty="0">
                <a:solidFill>
                  <a:srgbClr val="0000FF"/>
                </a:solidFill>
              </a:rPr>
              <a:t>(</a:t>
            </a:r>
            <a:r>
              <a:rPr lang="ro-RO" b="1" i="1" dirty="0">
                <a:solidFill>
                  <a:srgbClr val="0000FF"/>
                </a:solidFill>
              </a:rPr>
              <a:t>FS</a:t>
            </a:r>
            <a:r>
              <a:rPr lang="ro-RO" b="1" dirty="0">
                <a:solidFill>
                  <a:srgbClr val="0000FF"/>
                </a:solidFill>
              </a:rPr>
              <a:t>):</a:t>
            </a:r>
          </a:p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0000FF"/>
                </a:solidFill>
              </a:rPr>
              <a:t>ca tranziție de intrare pentru starea de pornire ST_A;</a:t>
            </a:r>
          </a:p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0000FF"/>
                </a:solidFill>
              </a:rPr>
              <a:t>ca variabilă de ieșire pentru restul stărilor;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52203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9535B7E1-DEB4-473B-8EB5-4FAA2193D594}"/>
              </a:ext>
            </a:extLst>
          </p:cNvPr>
          <p:cNvSpPr/>
          <p:nvPr/>
        </p:nvSpPr>
        <p:spPr>
          <a:xfrm>
            <a:off x="243904" y="137196"/>
            <a:ext cx="110641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fără memorie </a:t>
            </a:r>
            <a:r>
              <a:rPr lang="ro-RO" b="1" dirty="0">
                <a:solidFill>
                  <a:srgbClr val="FF0000"/>
                </a:solidFill>
              </a:rPr>
              <a:t>– Cazul testării condițiilor compuse</a:t>
            </a:r>
          </a:p>
          <a:p>
            <a:endParaRPr lang="ro-RO" b="1" dirty="0">
              <a:solidFill>
                <a:srgbClr val="FF0000"/>
              </a:solidFill>
            </a:endParaRPr>
          </a:p>
          <a:p>
            <a:r>
              <a:rPr lang="ro-RO" b="1" dirty="0"/>
              <a:t>c) Implementarea ecuațiilor de stare folosind </a:t>
            </a:r>
            <a:r>
              <a:rPr lang="ro-RO" b="1" dirty="0">
                <a:solidFill>
                  <a:srgbClr val="FF0000"/>
                </a:solidFill>
              </a:rPr>
              <a:t>relația (3)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37E01E82-C577-4846-9EF4-5CA62DFFA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051586"/>
            <a:ext cx="2790825" cy="60960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386C82C7-D159-4CCA-8A42-4C5C5D714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512" y="594391"/>
            <a:ext cx="4762876" cy="6097578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4DE8E66F-2C07-48AF-96E3-5F931203D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21" y="1874537"/>
            <a:ext cx="5723006" cy="3657560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9295E095-6B87-454A-B639-0F66C9C766CD}"/>
              </a:ext>
            </a:extLst>
          </p:cNvPr>
          <p:cNvSpPr/>
          <p:nvPr/>
        </p:nvSpPr>
        <p:spPr>
          <a:xfrm>
            <a:off x="335343" y="5714975"/>
            <a:ext cx="614431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Atenție la modul în care este poziționat bitul de </a:t>
            </a:r>
            <a:r>
              <a:rPr lang="ro-RO" b="1" i="1" dirty="0" err="1">
                <a:solidFill>
                  <a:srgbClr val="0000FF"/>
                </a:solidFill>
              </a:rPr>
              <a:t>First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r>
              <a:rPr lang="ro-RO" b="1" i="1" dirty="0" err="1">
                <a:solidFill>
                  <a:srgbClr val="0000FF"/>
                </a:solidFill>
              </a:rPr>
              <a:t>Scan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r>
              <a:rPr lang="ro-RO" b="1" dirty="0">
                <a:solidFill>
                  <a:srgbClr val="0000FF"/>
                </a:solidFill>
              </a:rPr>
              <a:t>(</a:t>
            </a:r>
            <a:r>
              <a:rPr lang="ro-RO" b="1" i="1" dirty="0">
                <a:solidFill>
                  <a:srgbClr val="0000FF"/>
                </a:solidFill>
              </a:rPr>
              <a:t>FS</a:t>
            </a:r>
            <a:r>
              <a:rPr lang="ro-RO" b="1" dirty="0">
                <a:solidFill>
                  <a:srgbClr val="0000FF"/>
                </a:solidFill>
              </a:rPr>
              <a:t>):</a:t>
            </a:r>
          </a:p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0000FF"/>
                </a:solidFill>
              </a:rPr>
              <a:t>ca tranziție de intrare pentru starea de pornire ST_A;</a:t>
            </a:r>
          </a:p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0000FF"/>
                </a:solidFill>
              </a:rPr>
              <a:t>ca variabilă de ieșire pentru restul stărilor;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1825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9535B7E1-DEB4-473B-8EB5-4FAA2193D594}"/>
              </a:ext>
            </a:extLst>
          </p:cNvPr>
          <p:cNvSpPr/>
          <p:nvPr/>
        </p:nvSpPr>
        <p:spPr>
          <a:xfrm>
            <a:off x="243904" y="137196"/>
            <a:ext cx="110641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fără memorie </a:t>
            </a:r>
            <a:r>
              <a:rPr lang="ro-RO" b="1" dirty="0">
                <a:solidFill>
                  <a:srgbClr val="FF0000"/>
                </a:solidFill>
              </a:rPr>
              <a:t>– Cazul testării condițiilor compuse</a:t>
            </a:r>
          </a:p>
          <a:p>
            <a:endParaRPr lang="ro-RO" b="1" dirty="0">
              <a:solidFill>
                <a:srgbClr val="FF0000"/>
              </a:solidFill>
            </a:endParaRPr>
          </a:p>
          <a:p>
            <a:r>
              <a:rPr lang="ro-RO" b="1" dirty="0"/>
              <a:t>d) Implementarea ecuațiilor de stare folosind </a:t>
            </a:r>
            <a:r>
              <a:rPr lang="ro-RO" b="1" dirty="0">
                <a:solidFill>
                  <a:srgbClr val="FF0000"/>
                </a:solidFill>
              </a:rPr>
              <a:t>relația (4) 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CC508854-4169-4419-9D8F-EE2E6ECC8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234464"/>
            <a:ext cx="2648145" cy="640073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4A13C4B9-5144-4316-A2C2-D84EE3F35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46" y="594391"/>
            <a:ext cx="4019550" cy="6191250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57F1B8BF-2335-402D-8B28-350668740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82" y="2057415"/>
            <a:ext cx="6381750" cy="2809875"/>
          </a:xfrm>
          <a:prstGeom prst="rect">
            <a:avLst/>
          </a:prstGeom>
        </p:spPr>
      </p:pic>
      <p:sp>
        <p:nvSpPr>
          <p:cNvPr id="9" name="Dreptunghi 8">
            <a:extLst>
              <a:ext uri="{FF2B5EF4-FFF2-40B4-BE49-F238E27FC236}">
                <a16:creationId xmlns:a16="http://schemas.microsoft.com/office/drawing/2014/main" id="{96D15026-3BF6-41D1-8058-46E953DAF24D}"/>
              </a:ext>
            </a:extLst>
          </p:cNvPr>
          <p:cNvSpPr/>
          <p:nvPr/>
        </p:nvSpPr>
        <p:spPr>
          <a:xfrm>
            <a:off x="426782" y="5166341"/>
            <a:ext cx="614431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Atenție la modul în care este poziționat bitul de </a:t>
            </a:r>
            <a:r>
              <a:rPr lang="ro-RO" b="1" i="1" dirty="0" err="1">
                <a:solidFill>
                  <a:srgbClr val="0000FF"/>
                </a:solidFill>
              </a:rPr>
              <a:t>First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r>
              <a:rPr lang="ro-RO" b="1" i="1" dirty="0" err="1">
                <a:solidFill>
                  <a:srgbClr val="0000FF"/>
                </a:solidFill>
              </a:rPr>
              <a:t>Scan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r>
              <a:rPr lang="ro-RO" b="1" dirty="0">
                <a:solidFill>
                  <a:srgbClr val="0000FF"/>
                </a:solidFill>
              </a:rPr>
              <a:t>(</a:t>
            </a:r>
            <a:r>
              <a:rPr lang="ro-RO" b="1" i="1" dirty="0">
                <a:solidFill>
                  <a:srgbClr val="0000FF"/>
                </a:solidFill>
              </a:rPr>
              <a:t>FS</a:t>
            </a:r>
            <a:r>
              <a:rPr lang="ro-RO" b="1" dirty="0">
                <a:solidFill>
                  <a:srgbClr val="0000FF"/>
                </a:solidFill>
              </a:rPr>
              <a:t>):</a:t>
            </a:r>
          </a:p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0000FF"/>
                </a:solidFill>
              </a:rPr>
              <a:t>ca tranziție de intrare pentru starea de pornire ST_A;</a:t>
            </a:r>
          </a:p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0000FF"/>
                </a:solidFill>
              </a:rPr>
              <a:t>ca tranziție de ieșire pentru restul stărilor;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39436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9535B7E1-DEB4-473B-8EB5-4FAA2193D594}"/>
              </a:ext>
            </a:extLst>
          </p:cNvPr>
          <p:cNvSpPr/>
          <p:nvPr/>
        </p:nvSpPr>
        <p:spPr>
          <a:xfrm>
            <a:off x="243904" y="137196"/>
            <a:ext cx="110641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fără memorie </a:t>
            </a:r>
            <a:r>
              <a:rPr lang="ro-RO" b="1" dirty="0">
                <a:solidFill>
                  <a:srgbClr val="FF0000"/>
                </a:solidFill>
              </a:rPr>
              <a:t>– Cazul testării condițiilor compuse</a:t>
            </a:r>
          </a:p>
          <a:p>
            <a:endParaRPr lang="ro-RO" b="1" dirty="0">
              <a:solidFill>
                <a:srgbClr val="FF0000"/>
              </a:solidFill>
            </a:endParaRPr>
          </a:p>
          <a:p>
            <a:r>
              <a:rPr lang="ro-RO" b="1" dirty="0"/>
              <a:t>e) Implementarea ecuațiilor de stare folosind relația (5)  </a:t>
            </a:r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4DE8E66F-2C07-48AF-96E3-5F931203D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874537"/>
            <a:ext cx="5723006" cy="3657560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C7D34CB4-481C-4FD2-AB48-196176AD7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1" y="1143025"/>
            <a:ext cx="2710897" cy="640073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51DF5EF5-A5A6-4D1F-961F-9A0A026FB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585" y="685830"/>
            <a:ext cx="3924300" cy="6096000"/>
          </a:xfrm>
          <a:prstGeom prst="rect">
            <a:avLst/>
          </a:prstGeom>
        </p:spPr>
      </p:pic>
      <p:sp>
        <p:nvSpPr>
          <p:cNvPr id="7" name="Dreptunghi 6">
            <a:extLst>
              <a:ext uri="{FF2B5EF4-FFF2-40B4-BE49-F238E27FC236}">
                <a16:creationId xmlns:a16="http://schemas.microsoft.com/office/drawing/2014/main" id="{AA13D891-97AB-4AC6-B026-C65592456524}"/>
              </a:ext>
            </a:extLst>
          </p:cNvPr>
          <p:cNvSpPr/>
          <p:nvPr/>
        </p:nvSpPr>
        <p:spPr>
          <a:xfrm>
            <a:off x="335343" y="5714975"/>
            <a:ext cx="614431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Atenție la modul în care este poziționat bitul de </a:t>
            </a:r>
            <a:r>
              <a:rPr lang="ro-RO" b="1" i="1" dirty="0" err="1">
                <a:solidFill>
                  <a:srgbClr val="0000FF"/>
                </a:solidFill>
              </a:rPr>
              <a:t>First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r>
              <a:rPr lang="ro-RO" b="1" i="1" dirty="0" err="1">
                <a:solidFill>
                  <a:srgbClr val="0000FF"/>
                </a:solidFill>
              </a:rPr>
              <a:t>Scan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r>
              <a:rPr lang="ro-RO" b="1" dirty="0">
                <a:solidFill>
                  <a:srgbClr val="0000FF"/>
                </a:solidFill>
              </a:rPr>
              <a:t>(</a:t>
            </a:r>
            <a:r>
              <a:rPr lang="ro-RO" b="1" i="1" dirty="0">
                <a:solidFill>
                  <a:srgbClr val="0000FF"/>
                </a:solidFill>
              </a:rPr>
              <a:t>FS</a:t>
            </a:r>
            <a:r>
              <a:rPr lang="ro-RO" b="1" dirty="0">
                <a:solidFill>
                  <a:srgbClr val="0000FF"/>
                </a:solidFill>
              </a:rPr>
              <a:t>):</a:t>
            </a:r>
          </a:p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0000FF"/>
                </a:solidFill>
              </a:rPr>
              <a:t>ca tranziție de intrare pentru starea de pornire ST_A;</a:t>
            </a:r>
          </a:p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0000FF"/>
                </a:solidFill>
              </a:rPr>
              <a:t>ca variabilă de ieșire pentru restul stărilor;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49200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412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4464</TotalTime>
  <Words>1574</Words>
  <Application>Microsoft Office PowerPoint</Application>
  <PresentationFormat>Ecran lat</PresentationFormat>
  <Paragraphs>152</Paragraphs>
  <Slides>22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232</cp:revision>
  <dcterms:created xsi:type="dcterms:W3CDTF">2020-09-24T15:20:51Z</dcterms:created>
  <dcterms:modified xsi:type="dcterms:W3CDTF">2025-10-26T15:07:13Z</dcterms:modified>
</cp:coreProperties>
</file>